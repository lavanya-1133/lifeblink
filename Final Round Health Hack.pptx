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ans Bold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League Spartan" charset="1" panose="00000800000000000000"/>
      <p:regular r:id="rId21"/>
    </p:embeddedFont>
    <p:embeddedFont>
      <p:font typeface="Alice Italics" charset="1" panose="000005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Italics" charset="1" panose="020B0503030501040103"/>
      <p:regular r:id="rId24"/>
    </p:embeddedFont>
    <p:embeddedFont>
      <p:font typeface="Canva Sans Bold Italics" charset="1" panose="020B0803030501040103"/>
      <p:regular r:id="rId25"/>
    </p:embeddedFont>
    <p:embeddedFont>
      <p:font typeface="Canva Sans Bold" charset="1" panose="020B0803030501040103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4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gif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jpeg" Type="http://schemas.openxmlformats.org/officeDocument/2006/relationships/image"/><Relationship Id="rId4" Target="../media/VAGfcF71hCI.mp4" Type="http://schemas.openxmlformats.org/officeDocument/2006/relationships/video"/><Relationship Id="rId5" Target="../media/VAGfcF71hCI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4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24" Target="../media/image39.png" Type="http://schemas.openxmlformats.org/officeDocument/2006/relationships/image"/><Relationship Id="rId25" Target="../media/image40.svg" Type="http://schemas.openxmlformats.org/officeDocument/2006/relationships/image"/><Relationship Id="rId26" Target="../media/image41.png" Type="http://schemas.openxmlformats.org/officeDocument/2006/relationships/image"/><Relationship Id="rId27" Target="../media/image42.svg" Type="http://schemas.openxmlformats.org/officeDocument/2006/relationships/image"/><Relationship Id="rId28" Target="../media/image43.png" Type="http://schemas.openxmlformats.org/officeDocument/2006/relationships/image"/><Relationship Id="rId29" Target="../media/image44.png" Type="http://schemas.openxmlformats.org/officeDocument/2006/relationships/image"/><Relationship Id="rId3" Target="../media/image18.png" Type="http://schemas.openxmlformats.org/officeDocument/2006/relationships/image"/><Relationship Id="rId30" Target="../media/image45.png" Type="http://schemas.openxmlformats.org/officeDocument/2006/relationships/image"/><Relationship Id="rId31" Target="../media/image46.png" Type="http://schemas.openxmlformats.org/officeDocument/2006/relationships/image"/><Relationship Id="rId32" Target="../media/image47.svg" Type="http://schemas.openxmlformats.org/officeDocument/2006/relationships/image"/><Relationship Id="rId33" Target="../media/image48.png" Type="http://schemas.openxmlformats.org/officeDocument/2006/relationships/image"/><Relationship Id="rId34" Target="../media/image49.svg" Type="http://schemas.openxmlformats.org/officeDocument/2006/relationships/image"/><Relationship Id="rId35" Target="../media/image50.png" Type="http://schemas.openxmlformats.org/officeDocument/2006/relationships/image"/><Relationship Id="rId36" Target="../media/image51.svg" Type="http://schemas.openxmlformats.org/officeDocument/2006/relationships/image"/><Relationship Id="rId37" Target="../media/image52.png" Type="http://schemas.openxmlformats.org/officeDocument/2006/relationships/image"/><Relationship Id="rId38" Target="../media/image53.svg" Type="http://schemas.openxmlformats.org/officeDocument/2006/relationships/image"/><Relationship Id="rId39" Target="../media/image54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jpeg" Type="http://schemas.openxmlformats.org/officeDocument/2006/relationships/image"/><Relationship Id="rId13" Target="../media/image67.png" Type="http://schemas.openxmlformats.org/officeDocument/2006/relationships/image"/><Relationship Id="rId2" Target="../media/image4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4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jpe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90.png" Type="http://schemas.openxmlformats.org/officeDocument/2006/relationships/image"/><Relationship Id="rId13" Target="../media/image91.png" Type="http://schemas.openxmlformats.org/officeDocument/2006/relationships/image"/><Relationship Id="rId14" Target="../media/image92.png" Type="http://schemas.openxmlformats.org/officeDocument/2006/relationships/image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83.png" Type="http://schemas.openxmlformats.org/officeDocument/2006/relationships/image"/><Relationship Id="rId5" Target="../media/image4.pn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www.frontiersin.org/journals/computer-science/articles/10.3389/fcomp.2024.1394397/ful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3680464" y="-2204937"/>
            <a:ext cx="30175163" cy="26420849"/>
          </a:xfrm>
          <a:custGeom>
            <a:avLst/>
            <a:gdLst/>
            <a:ahLst/>
            <a:cxnLst/>
            <a:rect r="r" b="b" t="t" l="l"/>
            <a:pathLst>
              <a:path h="26420849" w="30175163">
                <a:moveTo>
                  <a:pt x="30175163" y="26420849"/>
                </a:moveTo>
                <a:lnTo>
                  <a:pt x="0" y="26420849"/>
                </a:lnTo>
                <a:lnTo>
                  <a:pt x="0" y="0"/>
                </a:lnTo>
                <a:lnTo>
                  <a:pt x="30175163" y="0"/>
                </a:lnTo>
                <a:lnTo>
                  <a:pt x="30175163" y="26420849"/>
                </a:lnTo>
                <a:close/>
              </a:path>
            </a:pathLst>
          </a:custGeom>
          <a:blipFill>
            <a:blip r:embed="rId2">
              <a:alphaModFix amt="81000"/>
            </a:blip>
            <a:stretch>
              <a:fillRect l="0" t="-28589" r="-14644" b="-23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255437" cy="1533113"/>
          </a:xfrm>
          <a:custGeom>
            <a:avLst/>
            <a:gdLst/>
            <a:ahLst/>
            <a:cxnLst/>
            <a:rect r="r" b="b" t="t" l="l"/>
            <a:pathLst>
              <a:path h="1533113" w="3255437">
                <a:moveTo>
                  <a:pt x="0" y="0"/>
                </a:moveTo>
                <a:lnTo>
                  <a:pt x="3255437" y="0"/>
                </a:lnTo>
                <a:lnTo>
                  <a:pt x="3255437" y="1533113"/>
                </a:lnTo>
                <a:lnTo>
                  <a:pt x="0" y="1533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96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9620" y="0"/>
            <a:ext cx="4389816" cy="1339052"/>
          </a:xfrm>
          <a:custGeom>
            <a:avLst/>
            <a:gdLst/>
            <a:ahLst/>
            <a:cxnLst/>
            <a:rect r="r" b="b" t="t" l="l"/>
            <a:pathLst>
              <a:path h="1339052" w="4389816">
                <a:moveTo>
                  <a:pt x="0" y="0"/>
                </a:moveTo>
                <a:lnTo>
                  <a:pt x="4389816" y="0"/>
                </a:lnTo>
                <a:lnTo>
                  <a:pt x="4389816" y="1339052"/>
                </a:lnTo>
                <a:lnTo>
                  <a:pt x="0" y="133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627719" y="3541549"/>
          <a:ext cx="15298599" cy="5559634"/>
        </p:xfrm>
        <a:graphic>
          <a:graphicData uri="http://schemas.openxmlformats.org/drawingml/2006/table">
            <a:tbl>
              <a:tblPr/>
              <a:tblGrid>
                <a:gridCol w="3823780"/>
                <a:gridCol w="11474819"/>
              </a:tblGrid>
              <a:tr h="163722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Problem Statement Title 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LifeBlink : "Smart Eyewear for Communication and 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Health Monitoring in Speech-Impaired Individuals"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53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Theme 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Wearable Assistive Devices Enabling Remote Monitoring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5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Category 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Hardware and Software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Team Name 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LifeBlink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06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University Name 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Indian Institute of Technology, Indore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(in assisstance with Charak Center for Digital Healthcare, IITI Drishti CPS Foundation)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2285888" y="3917749"/>
            <a:ext cx="7139883" cy="4003473"/>
          </a:xfrm>
          <a:custGeom>
            <a:avLst/>
            <a:gdLst/>
            <a:ahLst/>
            <a:cxnLst/>
            <a:rect r="r" b="b" t="t" l="l"/>
            <a:pathLst>
              <a:path h="4003473" w="7139883">
                <a:moveTo>
                  <a:pt x="0" y="0"/>
                </a:moveTo>
                <a:lnTo>
                  <a:pt x="7139883" y="0"/>
                </a:lnTo>
                <a:lnTo>
                  <a:pt x="7139883" y="4003472"/>
                </a:lnTo>
                <a:lnTo>
                  <a:pt x="0" y="4003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43162" y="1534334"/>
            <a:ext cx="1332819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VITB - JHU Health Hack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8025" y="2785284"/>
            <a:ext cx="13756503" cy="62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i="true">
                <a:solidFill>
                  <a:srgbClr val="000000"/>
                </a:solidFill>
                <a:latin typeface="Alice Italics"/>
                <a:ea typeface="Alice Italics"/>
                <a:cs typeface="Alice Italics"/>
                <a:sym typeface="Alice Italics"/>
              </a:rPr>
              <a:t>Improving Health Through Accessible and Empowering Innovation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8965" y="9220200"/>
            <a:ext cx="811007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Organized by: VIT Bhopal University and John Hopkins University, USA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58956" y="-8390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81409" y="7891319"/>
            <a:ext cx="1974468" cy="2244735"/>
          </a:xfrm>
          <a:custGeom>
            <a:avLst/>
            <a:gdLst/>
            <a:ahLst/>
            <a:cxnLst/>
            <a:rect r="r" b="b" t="t" l="l"/>
            <a:pathLst>
              <a:path h="2244735" w="1974468">
                <a:moveTo>
                  <a:pt x="0" y="0"/>
                </a:moveTo>
                <a:lnTo>
                  <a:pt x="1974468" y="0"/>
                </a:lnTo>
                <a:lnTo>
                  <a:pt x="1974468" y="2244735"/>
                </a:lnTo>
                <a:lnTo>
                  <a:pt x="0" y="2244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316" r="0" b="-193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54728" y="1753729"/>
            <a:ext cx="1827829" cy="1827829"/>
          </a:xfrm>
          <a:custGeom>
            <a:avLst/>
            <a:gdLst/>
            <a:ahLst/>
            <a:cxnLst/>
            <a:rect r="r" b="b" t="t" l="l"/>
            <a:pathLst>
              <a:path h="1827829" w="1827829">
                <a:moveTo>
                  <a:pt x="0" y="0"/>
                </a:moveTo>
                <a:lnTo>
                  <a:pt x="1827829" y="0"/>
                </a:lnTo>
                <a:lnTo>
                  <a:pt x="1827829" y="1827828"/>
                </a:lnTo>
                <a:lnTo>
                  <a:pt x="0" y="182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54728" y="5822141"/>
            <a:ext cx="1827829" cy="1902961"/>
          </a:xfrm>
          <a:custGeom>
            <a:avLst/>
            <a:gdLst/>
            <a:ahLst/>
            <a:cxnLst/>
            <a:rect r="r" b="b" t="t" l="l"/>
            <a:pathLst>
              <a:path h="1902961" w="1827829">
                <a:moveTo>
                  <a:pt x="0" y="0"/>
                </a:moveTo>
                <a:lnTo>
                  <a:pt x="1827829" y="0"/>
                </a:lnTo>
                <a:lnTo>
                  <a:pt x="1827829" y="1902962"/>
                </a:lnTo>
                <a:lnTo>
                  <a:pt x="0" y="1902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814" t="0" r="-64667" b="-6387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18065" y="3781582"/>
            <a:ext cx="1901156" cy="1844428"/>
          </a:xfrm>
          <a:custGeom>
            <a:avLst/>
            <a:gdLst/>
            <a:ahLst/>
            <a:cxnLst/>
            <a:rect r="r" b="b" t="t" l="l"/>
            <a:pathLst>
              <a:path h="1844428" w="1901156">
                <a:moveTo>
                  <a:pt x="0" y="0"/>
                </a:moveTo>
                <a:lnTo>
                  <a:pt x="1901156" y="0"/>
                </a:lnTo>
                <a:lnTo>
                  <a:pt x="1901156" y="1844428"/>
                </a:lnTo>
                <a:lnTo>
                  <a:pt x="0" y="1844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635" t="-50772" r="-93223" b="-11811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07564" y="509042"/>
            <a:ext cx="3536436" cy="65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1"/>
              </a:lnSpc>
              <a:spcBef>
                <a:spcPct val="0"/>
              </a:spcBef>
            </a:pPr>
            <a:r>
              <a:rPr lang="en-US" sz="38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6275" y="2124940"/>
            <a:ext cx="21257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Vaidehi Bhat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7291" y="6147383"/>
            <a:ext cx="4523756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Harshvardhan Chaudhary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0864" y="4041508"/>
            <a:ext cx="3656608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Lavanya Bhatnagar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63934" y="8778736"/>
            <a:ext cx="287046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Yash Bhamare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642" y="4829202"/>
            <a:ext cx="6550977" cy="3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2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2nd Yr Mechanical Engineering, BTech IIT Indore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5348" y="2727945"/>
            <a:ext cx="6273566" cy="3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2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2nd Yr Electrical Engineering, BTech IIT Indore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2096" y="6930459"/>
            <a:ext cx="6594144" cy="3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2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2nd Year Electrical Engineering, BTech IIT Indore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0613" y="9175194"/>
            <a:ext cx="7476771" cy="3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2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1st Year Mathematics and Computing, BTech IIT Indore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58956" y="-8390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93203" y="1607020"/>
            <a:ext cx="2538056" cy="2895381"/>
          </a:xfrm>
          <a:custGeom>
            <a:avLst/>
            <a:gdLst/>
            <a:ahLst/>
            <a:cxnLst/>
            <a:rect r="r" b="b" t="t" l="l"/>
            <a:pathLst>
              <a:path h="2895381" w="2538056">
                <a:moveTo>
                  <a:pt x="0" y="0"/>
                </a:moveTo>
                <a:lnTo>
                  <a:pt x="2538056" y="0"/>
                </a:lnTo>
                <a:lnTo>
                  <a:pt x="2538056" y="2895381"/>
                </a:lnTo>
                <a:lnTo>
                  <a:pt x="0" y="289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3521" y="1290531"/>
            <a:ext cx="2131879" cy="3211870"/>
          </a:xfrm>
          <a:custGeom>
            <a:avLst/>
            <a:gdLst/>
            <a:ahLst/>
            <a:cxnLst/>
            <a:rect r="r" b="b" t="t" l="l"/>
            <a:pathLst>
              <a:path h="3211870" w="2131879">
                <a:moveTo>
                  <a:pt x="0" y="0"/>
                </a:moveTo>
                <a:lnTo>
                  <a:pt x="2131879" y="0"/>
                </a:lnTo>
                <a:lnTo>
                  <a:pt x="2131879" y="3211870"/>
                </a:lnTo>
                <a:lnTo>
                  <a:pt x="0" y="3211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88625" y="1290531"/>
            <a:ext cx="3037320" cy="3275183"/>
          </a:xfrm>
          <a:custGeom>
            <a:avLst/>
            <a:gdLst/>
            <a:ahLst/>
            <a:cxnLst/>
            <a:rect r="r" b="b" t="t" l="l"/>
            <a:pathLst>
              <a:path h="3275183" w="3037320">
                <a:moveTo>
                  <a:pt x="0" y="0"/>
                </a:moveTo>
                <a:lnTo>
                  <a:pt x="3037321" y="0"/>
                </a:lnTo>
                <a:lnTo>
                  <a:pt x="3037321" y="3275182"/>
                </a:lnTo>
                <a:lnTo>
                  <a:pt x="0" y="3275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689460" y="7200900"/>
            <a:ext cx="3603742" cy="2413040"/>
            <a:chOff x="0" y="0"/>
            <a:chExt cx="949134" cy="6355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34" cy="635533"/>
            </a:xfrm>
            <a:custGeom>
              <a:avLst/>
              <a:gdLst/>
              <a:ahLst/>
              <a:cxnLst/>
              <a:rect r="r" b="b" t="t" l="l"/>
              <a:pathLst>
                <a:path h="635533" w="949134">
                  <a:moveTo>
                    <a:pt x="0" y="0"/>
                  </a:moveTo>
                  <a:lnTo>
                    <a:pt x="949134" y="0"/>
                  </a:lnTo>
                  <a:lnTo>
                    <a:pt x="949134" y="635533"/>
                  </a:lnTo>
                  <a:lnTo>
                    <a:pt x="0" y="6355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49134" cy="66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5452723"/>
            <a:ext cx="2429632" cy="2402298"/>
          </a:xfrm>
          <a:custGeom>
            <a:avLst/>
            <a:gdLst/>
            <a:ahLst/>
            <a:cxnLst/>
            <a:rect r="r" b="b" t="t" l="l"/>
            <a:pathLst>
              <a:path h="2402298" w="2429632">
                <a:moveTo>
                  <a:pt x="0" y="0"/>
                </a:moveTo>
                <a:lnTo>
                  <a:pt x="2429632" y="0"/>
                </a:lnTo>
                <a:lnTo>
                  <a:pt x="2429632" y="2402298"/>
                </a:lnTo>
                <a:lnTo>
                  <a:pt x="0" y="24022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2799457" y="7200900"/>
            <a:ext cx="3383748" cy="2233274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8420663" y="5319374"/>
            <a:ext cx="4481465" cy="4114800"/>
          </a:xfrm>
          <a:custGeom>
            <a:avLst/>
            <a:gdLst/>
            <a:ahLst/>
            <a:cxnLst/>
            <a:rect r="r" b="b" t="t" l="l"/>
            <a:pathLst>
              <a:path h="4114800" w="4481465">
                <a:moveTo>
                  <a:pt x="0" y="0"/>
                </a:moveTo>
                <a:lnTo>
                  <a:pt x="4481465" y="0"/>
                </a:lnTo>
                <a:lnTo>
                  <a:pt x="4481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53066" y="-315404"/>
            <a:ext cx="2848079" cy="10917809"/>
            <a:chOff x="0" y="0"/>
            <a:chExt cx="750111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111" cy="2875472"/>
            </a:xfrm>
            <a:custGeom>
              <a:avLst/>
              <a:gdLst/>
              <a:ahLst/>
              <a:cxnLst/>
              <a:rect r="r" b="b" t="t" l="l"/>
              <a:pathLst>
                <a:path h="2875472" w="750111">
                  <a:moveTo>
                    <a:pt x="0" y="0"/>
                  </a:moveTo>
                  <a:lnTo>
                    <a:pt x="750111" y="0"/>
                  </a:lnTo>
                  <a:lnTo>
                    <a:pt x="750111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50111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08085" y="1485889"/>
            <a:ext cx="13997694" cy="7923223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72597" y="449326"/>
            <a:ext cx="1887353" cy="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Video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6833" y="-839066"/>
            <a:ext cx="3735531" cy="37355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033016">
            <a:off x="10195113" y="4251226"/>
            <a:ext cx="495544" cy="1554647"/>
          </a:xfrm>
          <a:custGeom>
            <a:avLst/>
            <a:gdLst/>
            <a:ahLst/>
            <a:cxnLst/>
            <a:rect r="r" b="b" t="t" l="l"/>
            <a:pathLst>
              <a:path h="1554647" w="495544">
                <a:moveTo>
                  <a:pt x="0" y="0"/>
                </a:moveTo>
                <a:lnTo>
                  <a:pt x="495544" y="0"/>
                </a:lnTo>
                <a:lnTo>
                  <a:pt x="495544" y="1554647"/>
                </a:lnTo>
                <a:lnTo>
                  <a:pt x="0" y="155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2856" y="53906"/>
            <a:ext cx="13171178" cy="210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Implementation and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9767" y="4095915"/>
            <a:ext cx="2505494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Collection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94144" y="5647092"/>
            <a:ext cx="2641424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10390" y="7560589"/>
            <a:ext cx="4087261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Handling on Server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693165">
            <a:off x="10729521" y="6003289"/>
            <a:ext cx="448870" cy="1408219"/>
          </a:xfrm>
          <a:custGeom>
            <a:avLst/>
            <a:gdLst/>
            <a:ahLst/>
            <a:cxnLst/>
            <a:rect r="r" b="b" t="t" l="l"/>
            <a:pathLst>
              <a:path h="1408219" w="448870">
                <a:moveTo>
                  <a:pt x="0" y="0"/>
                </a:moveTo>
                <a:lnTo>
                  <a:pt x="448870" y="0"/>
                </a:lnTo>
                <a:lnTo>
                  <a:pt x="448870" y="1408219"/>
                </a:lnTo>
                <a:lnTo>
                  <a:pt x="0" y="14082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933647">
            <a:off x="8763627" y="7296152"/>
            <a:ext cx="579930" cy="1819388"/>
          </a:xfrm>
          <a:custGeom>
            <a:avLst/>
            <a:gdLst/>
            <a:ahLst/>
            <a:cxnLst/>
            <a:rect r="r" b="b" t="t" l="l"/>
            <a:pathLst>
              <a:path h="1819388" w="579930">
                <a:moveTo>
                  <a:pt x="0" y="0"/>
                </a:moveTo>
                <a:lnTo>
                  <a:pt x="579930" y="0"/>
                </a:lnTo>
                <a:lnTo>
                  <a:pt x="579930" y="1819388"/>
                </a:lnTo>
                <a:lnTo>
                  <a:pt x="0" y="1819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908328">
            <a:off x="6809169" y="5977390"/>
            <a:ext cx="514917" cy="1615425"/>
          </a:xfrm>
          <a:custGeom>
            <a:avLst/>
            <a:gdLst/>
            <a:ahLst/>
            <a:cxnLst/>
            <a:rect r="r" b="b" t="t" l="l"/>
            <a:pathLst>
              <a:path h="1615425" w="514917">
                <a:moveTo>
                  <a:pt x="0" y="0"/>
                </a:moveTo>
                <a:lnTo>
                  <a:pt x="514917" y="0"/>
                </a:lnTo>
                <a:lnTo>
                  <a:pt x="514917" y="1615425"/>
                </a:lnTo>
                <a:lnTo>
                  <a:pt x="0" y="161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9695261" y="4499096"/>
            <a:ext cx="85927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085677" y="2018182"/>
            <a:ext cx="0" cy="22631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2308027">
            <a:off x="11646500" y="1550829"/>
            <a:ext cx="629102" cy="922682"/>
          </a:xfrm>
          <a:custGeom>
            <a:avLst/>
            <a:gdLst/>
            <a:ahLst/>
            <a:cxnLst/>
            <a:rect r="r" b="b" t="t" l="l"/>
            <a:pathLst>
              <a:path h="922682" w="629102">
                <a:moveTo>
                  <a:pt x="0" y="0"/>
                </a:moveTo>
                <a:lnTo>
                  <a:pt x="629101" y="0"/>
                </a:lnTo>
                <a:lnTo>
                  <a:pt x="629101" y="922683"/>
                </a:lnTo>
                <a:lnTo>
                  <a:pt x="0" y="922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13041" y="3088980"/>
            <a:ext cx="4070394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Photoplethysmography(PPG)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Sensors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5148" y="3593520"/>
            <a:ext cx="3465046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KY-039 HeartBeat Sensor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4956933">
            <a:off x="12366827" y="2877429"/>
            <a:ext cx="629102" cy="922682"/>
          </a:xfrm>
          <a:custGeom>
            <a:avLst/>
            <a:gdLst/>
            <a:ahLst/>
            <a:cxnLst/>
            <a:rect r="r" b="b" t="t" l="l"/>
            <a:pathLst>
              <a:path h="922682" w="629102">
                <a:moveTo>
                  <a:pt x="0" y="0"/>
                </a:moveTo>
                <a:lnTo>
                  <a:pt x="629101" y="0"/>
                </a:lnTo>
                <a:lnTo>
                  <a:pt x="629101" y="922683"/>
                </a:lnTo>
                <a:lnTo>
                  <a:pt x="0" y="922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207896" y="2239011"/>
            <a:ext cx="1272506" cy="1105490"/>
          </a:xfrm>
          <a:custGeom>
            <a:avLst/>
            <a:gdLst/>
            <a:ahLst/>
            <a:cxnLst/>
            <a:rect r="r" b="b" t="t" l="l"/>
            <a:pathLst>
              <a:path h="1105490" w="1272506">
                <a:moveTo>
                  <a:pt x="0" y="0"/>
                </a:moveTo>
                <a:lnTo>
                  <a:pt x="1272506" y="0"/>
                </a:lnTo>
                <a:lnTo>
                  <a:pt x="1272506" y="1105490"/>
                </a:lnTo>
                <a:lnTo>
                  <a:pt x="0" y="11054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073084" y="3262143"/>
            <a:ext cx="1159964" cy="1159964"/>
          </a:xfrm>
          <a:custGeom>
            <a:avLst/>
            <a:gdLst/>
            <a:ahLst/>
            <a:cxnLst/>
            <a:rect r="r" b="b" t="t" l="l"/>
            <a:pathLst>
              <a:path h="1159964" w="1159964">
                <a:moveTo>
                  <a:pt x="0" y="0"/>
                </a:moveTo>
                <a:lnTo>
                  <a:pt x="1159964" y="0"/>
                </a:lnTo>
                <a:lnTo>
                  <a:pt x="1159964" y="1159964"/>
                </a:lnTo>
                <a:lnTo>
                  <a:pt x="0" y="11599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336816" y="1189576"/>
            <a:ext cx="1379480" cy="1379480"/>
          </a:xfrm>
          <a:custGeom>
            <a:avLst/>
            <a:gdLst/>
            <a:ahLst/>
            <a:cxnLst/>
            <a:rect r="r" b="b" t="t" l="l"/>
            <a:pathLst>
              <a:path h="1379480" w="1379480">
                <a:moveTo>
                  <a:pt x="0" y="0"/>
                </a:moveTo>
                <a:lnTo>
                  <a:pt x="1379480" y="0"/>
                </a:lnTo>
                <a:lnTo>
                  <a:pt x="1379480" y="1379480"/>
                </a:lnTo>
                <a:lnTo>
                  <a:pt x="0" y="1379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4581" y="2239011"/>
            <a:ext cx="1198494" cy="773573"/>
          </a:xfrm>
          <a:custGeom>
            <a:avLst/>
            <a:gdLst/>
            <a:ahLst/>
            <a:cxnLst/>
            <a:rect r="r" b="b" t="t" l="l"/>
            <a:pathLst>
              <a:path h="773573" w="1198494">
                <a:moveTo>
                  <a:pt x="0" y="0"/>
                </a:moveTo>
                <a:lnTo>
                  <a:pt x="1198493" y="0"/>
                </a:lnTo>
                <a:lnTo>
                  <a:pt x="1198493" y="773573"/>
                </a:lnTo>
                <a:lnTo>
                  <a:pt x="0" y="7735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61686" y="3378463"/>
            <a:ext cx="3106339" cy="1293051"/>
          </a:xfrm>
          <a:custGeom>
            <a:avLst/>
            <a:gdLst/>
            <a:ahLst/>
            <a:cxnLst/>
            <a:rect r="r" b="b" t="t" l="l"/>
            <a:pathLst>
              <a:path h="1293051" w="3106339">
                <a:moveTo>
                  <a:pt x="0" y="0"/>
                </a:moveTo>
                <a:lnTo>
                  <a:pt x="3106340" y="0"/>
                </a:lnTo>
                <a:lnTo>
                  <a:pt x="3106340" y="1293051"/>
                </a:lnTo>
                <a:lnTo>
                  <a:pt x="0" y="12930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10593098" y="7372817"/>
            <a:ext cx="85927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028870" y="4885470"/>
            <a:ext cx="1154564" cy="286159"/>
          </a:xfrm>
          <a:custGeom>
            <a:avLst/>
            <a:gdLst/>
            <a:ahLst/>
            <a:cxnLst/>
            <a:rect r="r" b="b" t="t" l="l"/>
            <a:pathLst>
              <a:path h="286159" w="1154564">
                <a:moveTo>
                  <a:pt x="0" y="0"/>
                </a:moveTo>
                <a:lnTo>
                  <a:pt x="1154565" y="0"/>
                </a:lnTo>
                <a:lnTo>
                  <a:pt x="1154565" y="286159"/>
                </a:lnTo>
                <a:lnTo>
                  <a:pt x="0" y="286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028870" y="5000421"/>
            <a:ext cx="1154564" cy="286159"/>
          </a:xfrm>
          <a:custGeom>
            <a:avLst/>
            <a:gdLst/>
            <a:ahLst/>
            <a:cxnLst/>
            <a:rect r="r" b="b" t="t" l="l"/>
            <a:pathLst>
              <a:path h="286159" w="1154564">
                <a:moveTo>
                  <a:pt x="0" y="0"/>
                </a:moveTo>
                <a:lnTo>
                  <a:pt x="1154565" y="0"/>
                </a:lnTo>
                <a:lnTo>
                  <a:pt x="1154565" y="286158"/>
                </a:lnTo>
                <a:lnTo>
                  <a:pt x="0" y="2861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314856" y="6402699"/>
            <a:ext cx="817450" cy="854748"/>
          </a:xfrm>
          <a:custGeom>
            <a:avLst/>
            <a:gdLst/>
            <a:ahLst/>
            <a:cxnLst/>
            <a:rect r="r" b="b" t="t" l="l"/>
            <a:pathLst>
              <a:path h="854748" w="817450">
                <a:moveTo>
                  <a:pt x="0" y="0"/>
                </a:moveTo>
                <a:lnTo>
                  <a:pt x="817450" y="0"/>
                </a:lnTo>
                <a:lnTo>
                  <a:pt x="817450" y="854748"/>
                </a:lnTo>
                <a:lnTo>
                  <a:pt x="0" y="8547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872078" y="5382143"/>
            <a:ext cx="972070" cy="1106419"/>
          </a:xfrm>
          <a:custGeom>
            <a:avLst/>
            <a:gdLst/>
            <a:ahLst/>
            <a:cxnLst/>
            <a:rect r="r" b="b" t="t" l="l"/>
            <a:pathLst>
              <a:path h="1106419" w="972070">
                <a:moveTo>
                  <a:pt x="0" y="0"/>
                </a:moveTo>
                <a:lnTo>
                  <a:pt x="972071" y="0"/>
                </a:lnTo>
                <a:lnTo>
                  <a:pt x="972071" y="1106419"/>
                </a:lnTo>
                <a:lnTo>
                  <a:pt x="0" y="11064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6048254" y="8084948"/>
            <a:ext cx="1212768" cy="1256162"/>
          </a:xfrm>
          <a:custGeom>
            <a:avLst/>
            <a:gdLst/>
            <a:ahLst/>
            <a:cxnLst/>
            <a:rect r="r" b="b" t="t" l="l"/>
            <a:pathLst>
              <a:path h="1256162" w="1212768">
                <a:moveTo>
                  <a:pt x="0" y="0"/>
                </a:moveTo>
                <a:lnTo>
                  <a:pt x="1212767" y="0"/>
                </a:lnTo>
                <a:lnTo>
                  <a:pt x="1212767" y="1256162"/>
                </a:lnTo>
                <a:lnTo>
                  <a:pt x="0" y="1256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480402" y="7468067"/>
            <a:ext cx="790228" cy="1041521"/>
          </a:xfrm>
          <a:custGeom>
            <a:avLst/>
            <a:gdLst/>
            <a:ahLst/>
            <a:cxnLst/>
            <a:rect r="r" b="b" t="t" l="l"/>
            <a:pathLst>
              <a:path h="1041521" w="790228">
                <a:moveTo>
                  <a:pt x="0" y="0"/>
                </a:moveTo>
                <a:lnTo>
                  <a:pt x="790228" y="0"/>
                </a:lnTo>
                <a:lnTo>
                  <a:pt x="790228" y="1041521"/>
                </a:lnTo>
                <a:lnTo>
                  <a:pt x="0" y="104152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519491" y="9138477"/>
            <a:ext cx="1107185" cy="1107185"/>
          </a:xfrm>
          <a:custGeom>
            <a:avLst/>
            <a:gdLst/>
            <a:ahLst/>
            <a:cxnLst/>
            <a:rect r="r" b="b" t="t" l="l"/>
            <a:pathLst>
              <a:path h="1107185" w="1107185">
                <a:moveTo>
                  <a:pt x="0" y="0"/>
                </a:moveTo>
                <a:lnTo>
                  <a:pt x="1107185" y="0"/>
                </a:lnTo>
                <a:lnTo>
                  <a:pt x="1107185" y="1107185"/>
                </a:lnTo>
                <a:lnTo>
                  <a:pt x="0" y="110718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912312" y="8421411"/>
            <a:ext cx="1174122" cy="1348157"/>
          </a:xfrm>
          <a:custGeom>
            <a:avLst/>
            <a:gdLst/>
            <a:ahLst/>
            <a:cxnLst/>
            <a:rect r="r" b="b" t="t" l="l"/>
            <a:pathLst>
              <a:path h="1348157" w="1174122">
                <a:moveTo>
                  <a:pt x="0" y="0"/>
                </a:moveTo>
                <a:lnTo>
                  <a:pt x="1174122" y="0"/>
                </a:lnTo>
                <a:lnTo>
                  <a:pt x="1174122" y="1348157"/>
                </a:lnTo>
                <a:lnTo>
                  <a:pt x="0" y="134815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 flipV="true">
            <a:off x="9256115" y="8456315"/>
            <a:ext cx="0" cy="22631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835993" y="5985951"/>
            <a:ext cx="2270380" cy="833495"/>
          </a:xfrm>
          <a:custGeom>
            <a:avLst/>
            <a:gdLst/>
            <a:ahLst/>
            <a:cxnLst/>
            <a:rect r="r" b="b" t="t" l="l"/>
            <a:pathLst>
              <a:path h="833495" w="2270380">
                <a:moveTo>
                  <a:pt x="0" y="0"/>
                </a:moveTo>
                <a:lnTo>
                  <a:pt x="2270380" y="0"/>
                </a:lnTo>
                <a:lnTo>
                  <a:pt x="2270380" y="833495"/>
                </a:lnTo>
                <a:lnTo>
                  <a:pt x="0" y="83349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796806" y="9258300"/>
            <a:ext cx="1095384" cy="1095384"/>
          </a:xfrm>
          <a:custGeom>
            <a:avLst/>
            <a:gdLst/>
            <a:ahLst/>
            <a:cxnLst/>
            <a:rect r="r" b="b" t="t" l="l"/>
            <a:pathLst>
              <a:path h="1095384" w="1095384">
                <a:moveTo>
                  <a:pt x="0" y="0"/>
                </a:moveTo>
                <a:lnTo>
                  <a:pt x="1095384" y="0"/>
                </a:lnTo>
                <a:lnTo>
                  <a:pt x="1095384" y="1095384"/>
                </a:lnTo>
                <a:lnTo>
                  <a:pt x="0" y="109538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68418" y="9258300"/>
            <a:ext cx="1128338" cy="1238231"/>
          </a:xfrm>
          <a:custGeom>
            <a:avLst/>
            <a:gdLst/>
            <a:ahLst/>
            <a:cxnLst/>
            <a:rect r="r" b="b" t="t" l="l"/>
            <a:pathLst>
              <a:path h="1238231" w="1128338">
                <a:moveTo>
                  <a:pt x="0" y="0"/>
                </a:moveTo>
                <a:lnTo>
                  <a:pt x="1128338" y="0"/>
                </a:lnTo>
                <a:lnTo>
                  <a:pt x="1128338" y="1238231"/>
                </a:lnTo>
                <a:lnTo>
                  <a:pt x="0" y="123823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961419" y="7855662"/>
            <a:ext cx="1115845" cy="1239828"/>
          </a:xfrm>
          <a:custGeom>
            <a:avLst/>
            <a:gdLst/>
            <a:ahLst/>
            <a:cxnLst/>
            <a:rect r="r" b="b" t="t" l="l"/>
            <a:pathLst>
              <a:path h="1239828" w="1115845">
                <a:moveTo>
                  <a:pt x="0" y="0"/>
                </a:moveTo>
                <a:lnTo>
                  <a:pt x="1115845" y="0"/>
                </a:lnTo>
                <a:lnTo>
                  <a:pt x="1115845" y="1239828"/>
                </a:lnTo>
                <a:lnTo>
                  <a:pt x="0" y="123982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>
            <a:off x="-1638760" y="5872495"/>
            <a:ext cx="85927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5013087" y="3490144"/>
            <a:ext cx="1395351" cy="840699"/>
          </a:xfrm>
          <a:custGeom>
            <a:avLst/>
            <a:gdLst/>
            <a:ahLst/>
            <a:cxnLst/>
            <a:rect r="r" b="b" t="t" l="l"/>
            <a:pathLst>
              <a:path h="840699" w="1395351">
                <a:moveTo>
                  <a:pt x="0" y="0"/>
                </a:moveTo>
                <a:lnTo>
                  <a:pt x="1395351" y="0"/>
                </a:lnTo>
                <a:lnTo>
                  <a:pt x="1395351" y="840699"/>
                </a:lnTo>
                <a:lnTo>
                  <a:pt x="0" y="840699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941553" y="2913307"/>
            <a:ext cx="958348" cy="809790"/>
          </a:xfrm>
          <a:custGeom>
            <a:avLst/>
            <a:gdLst/>
            <a:ahLst/>
            <a:cxnLst/>
            <a:rect r="r" b="b" t="t" l="l"/>
            <a:pathLst>
              <a:path h="809790" w="958348">
                <a:moveTo>
                  <a:pt x="0" y="0"/>
                </a:moveTo>
                <a:lnTo>
                  <a:pt x="958348" y="0"/>
                </a:lnTo>
                <a:lnTo>
                  <a:pt x="958348" y="809789"/>
                </a:lnTo>
                <a:lnTo>
                  <a:pt x="0" y="809789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0" y="3764963"/>
            <a:ext cx="1435164" cy="1336007"/>
          </a:xfrm>
          <a:custGeom>
            <a:avLst/>
            <a:gdLst/>
            <a:ahLst/>
            <a:cxnLst/>
            <a:rect r="r" b="b" t="t" l="l"/>
            <a:pathLst>
              <a:path h="1336007" w="1435164">
                <a:moveTo>
                  <a:pt x="0" y="0"/>
                </a:moveTo>
                <a:lnTo>
                  <a:pt x="1435164" y="0"/>
                </a:lnTo>
                <a:lnTo>
                  <a:pt x="1435164" y="1336007"/>
                </a:lnTo>
                <a:lnTo>
                  <a:pt x="0" y="133600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823598" y="2867872"/>
            <a:ext cx="1413442" cy="1413442"/>
          </a:xfrm>
          <a:custGeom>
            <a:avLst/>
            <a:gdLst/>
            <a:ahLst/>
            <a:cxnLst/>
            <a:rect r="r" b="b" t="t" l="l"/>
            <a:pathLst>
              <a:path h="1413442" w="1413442">
                <a:moveTo>
                  <a:pt x="0" y="0"/>
                </a:moveTo>
                <a:lnTo>
                  <a:pt x="1413442" y="0"/>
                </a:lnTo>
                <a:lnTo>
                  <a:pt x="1413442" y="1413442"/>
                </a:lnTo>
                <a:lnTo>
                  <a:pt x="0" y="141344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561649" y="1989706"/>
            <a:ext cx="3465046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Electrooculography (EOG) Sensors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94144" y="7475305"/>
            <a:ext cx="2032551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Saving Data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99824" y="5053345"/>
            <a:ext cx="2911188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Obtaining Results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76953" y="1811468"/>
            <a:ext cx="3465046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Bio-Amp EXG Pill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94033" y="2399282"/>
            <a:ext cx="3465046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Microcontroller: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ESP32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72729" y="4862014"/>
            <a:ext cx="2537464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PPG Data Filtering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81378" y="6578388"/>
            <a:ext cx="2570758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EOG Data Filtering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966756" y="5348682"/>
            <a:ext cx="4398702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Butterworth Bandpass Filters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IIR Notch Filters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Pywavelet’s Denoising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98541" y="8290798"/>
            <a:ext cx="2347075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Offline Saving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723581" y="9062718"/>
            <a:ext cx="2660716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 Dumping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541999" y="7560589"/>
            <a:ext cx="2462940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32 GB SD Card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481072" y="9397978"/>
            <a:ext cx="2806928" cy="8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Directly On Server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582235" y="8516220"/>
            <a:ext cx="2604602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Interoperability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344498" y="6285167"/>
            <a:ext cx="3131785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Flask Used: Render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0306" y="6771821"/>
            <a:ext cx="3945685" cy="173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Lightweight Python Framework for hosting Web Application and API calls from ESP32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94837" y="8716245"/>
            <a:ext cx="3552692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Deployed Via: GitHub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79724" y="8328917"/>
            <a:ext cx="2793118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 Description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812086" y="9017849"/>
            <a:ext cx="5462051" cy="129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Signal Processing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Signal Trimming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Dynamic Peak Counting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087875" y="2558603"/>
            <a:ext cx="2635852" cy="8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Obtaining Blink Count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3882" y="2513553"/>
            <a:ext cx="2674602" cy="8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Obtaining Heart Rate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5579" y="4002596"/>
            <a:ext cx="3831949" cy="173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Translating Blink Count to Audio Output: Thresholding for Emergencies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6833" y="-8390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77782" y="3010766"/>
            <a:ext cx="3689019" cy="1214973"/>
            <a:chOff x="0" y="0"/>
            <a:chExt cx="971593" cy="319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1593" cy="319993"/>
            </a:xfrm>
            <a:custGeom>
              <a:avLst/>
              <a:gdLst/>
              <a:ahLst/>
              <a:cxnLst/>
              <a:rect r="r" b="b" t="t" l="l"/>
              <a:pathLst>
                <a:path h="319993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19993"/>
                  </a:lnTo>
                  <a:lnTo>
                    <a:pt x="0" y="31999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71593" cy="367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 Second Countdown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7782" y="7914540"/>
            <a:ext cx="3689019" cy="1935938"/>
            <a:chOff x="0" y="0"/>
            <a:chExt cx="971593" cy="5098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1593" cy="509877"/>
            </a:xfrm>
            <a:custGeom>
              <a:avLst/>
              <a:gdLst/>
              <a:ahLst/>
              <a:cxnLst/>
              <a:rect r="r" b="b" t="t" l="l"/>
              <a:pathLst>
                <a:path h="509877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509877"/>
                  </a:lnTo>
                  <a:lnTo>
                    <a:pt x="0" y="509877"/>
                  </a:ln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1593" cy="557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Dumped on SD Card with date time, Read from SD Card, Sent over to Render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28329" y="3010766"/>
            <a:ext cx="3689019" cy="1214973"/>
            <a:chOff x="0" y="0"/>
            <a:chExt cx="971593" cy="3199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1593" cy="319993"/>
            </a:xfrm>
            <a:custGeom>
              <a:avLst/>
              <a:gdLst/>
              <a:ahLst/>
              <a:cxnLst/>
              <a:rect r="r" b="b" t="t" l="l"/>
              <a:pathLst>
                <a:path h="319993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19993"/>
                  </a:lnTo>
                  <a:lnTo>
                    <a:pt x="0" y="31999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71593" cy="367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 Second EOG Data Collection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7782" y="5398260"/>
            <a:ext cx="3689019" cy="1343760"/>
            <a:chOff x="0" y="0"/>
            <a:chExt cx="971593" cy="353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1593" cy="353912"/>
            </a:xfrm>
            <a:custGeom>
              <a:avLst/>
              <a:gdLst/>
              <a:ahLst/>
              <a:cxnLst/>
              <a:rect r="r" b="b" t="t" l="l"/>
              <a:pathLst>
                <a:path h="353912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53912"/>
                  </a:lnTo>
                  <a:lnTo>
                    <a:pt x="0" y="353912"/>
                  </a:lnTo>
                  <a:close/>
                </a:path>
              </a:pathLst>
            </a:custGeom>
            <a:solidFill>
              <a:srgbClr val="167EB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71593" cy="40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20 Second PPG Data Collection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74647" y="3010766"/>
            <a:ext cx="3689019" cy="1935938"/>
            <a:chOff x="0" y="0"/>
            <a:chExt cx="971593" cy="5098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1593" cy="509877"/>
            </a:xfrm>
            <a:custGeom>
              <a:avLst/>
              <a:gdLst/>
              <a:ahLst/>
              <a:cxnLst/>
              <a:rect r="r" b="b" t="t" l="l"/>
              <a:pathLst>
                <a:path h="509877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509877"/>
                  </a:lnTo>
                  <a:lnTo>
                    <a:pt x="0" y="50987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1593" cy="557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Dumped on SD Card with date time, Read from SD Card, Sent over to Render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604662" y="5398260"/>
            <a:ext cx="3689019" cy="1343760"/>
            <a:chOff x="0" y="0"/>
            <a:chExt cx="971593" cy="353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1593" cy="353912"/>
            </a:xfrm>
            <a:custGeom>
              <a:avLst/>
              <a:gdLst/>
              <a:ahLst/>
              <a:cxnLst/>
              <a:rect r="r" b="b" t="t" l="l"/>
              <a:pathLst>
                <a:path h="353912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53912"/>
                  </a:lnTo>
                  <a:lnTo>
                    <a:pt x="0" y="353912"/>
                  </a:lnTo>
                  <a:close/>
                </a:path>
              </a:pathLst>
            </a:custGeom>
            <a:solidFill>
              <a:srgbClr val="167EB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71593" cy="40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Delay of 10 Seconds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2092300"/>
            <a:ext cx="12840943" cy="56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Timing and Workflow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2856" y="53906"/>
            <a:ext cx="13171178" cy="210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Implementation and Integration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605015" y="5398260"/>
            <a:ext cx="3689019" cy="1343760"/>
            <a:chOff x="0" y="0"/>
            <a:chExt cx="971593" cy="353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1593" cy="353912"/>
            </a:xfrm>
            <a:custGeom>
              <a:avLst/>
              <a:gdLst/>
              <a:ahLst/>
              <a:cxnLst/>
              <a:rect r="r" b="b" t="t" l="l"/>
              <a:pathLst>
                <a:path h="353912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53912"/>
                  </a:lnTo>
                  <a:lnTo>
                    <a:pt x="0" y="353912"/>
                  </a:lnTo>
                  <a:close/>
                </a:path>
              </a:pathLst>
            </a:custGeom>
            <a:solidFill>
              <a:srgbClr val="167EB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1593" cy="40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Return of Results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04662" y="7914540"/>
            <a:ext cx="3689019" cy="1343760"/>
            <a:chOff x="0" y="0"/>
            <a:chExt cx="971593" cy="3539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1593" cy="353912"/>
            </a:xfrm>
            <a:custGeom>
              <a:avLst/>
              <a:gdLst/>
              <a:ahLst/>
              <a:cxnLst/>
              <a:rect r="r" b="b" t="t" l="l"/>
              <a:pathLst>
                <a:path h="353912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53912"/>
                  </a:lnTo>
                  <a:lnTo>
                    <a:pt x="0" y="353912"/>
                  </a:ln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71593" cy="40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Return of Results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05015" y="7914540"/>
            <a:ext cx="3689019" cy="1497832"/>
            <a:chOff x="0" y="0"/>
            <a:chExt cx="971593" cy="3944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1593" cy="394491"/>
            </a:xfrm>
            <a:custGeom>
              <a:avLst/>
              <a:gdLst/>
              <a:ahLst/>
              <a:cxnLst/>
              <a:rect r="r" b="b" t="t" l="l"/>
              <a:pathLst>
                <a:path h="394491" w="971593">
                  <a:moveTo>
                    <a:pt x="0" y="0"/>
                  </a:moveTo>
                  <a:lnTo>
                    <a:pt x="971593" y="0"/>
                  </a:lnTo>
                  <a:lnTo>
                    <a:pt x="971593" y="394491"/>
                  </a:lnTo>
                  <a:lnTo>
                    <a:pt x="0" y="394491"/>
                  </a:ln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1593" cy="442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Completion of One Cycle and Start of Another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686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7814" y="1485889"/>
            <a:ext cx="4780868" cy="3407864"/>
          </a:xfrm>
          <a:custGeom>
            <a:avLst/>
            <a:gdLst/>
            <a:ahLst/>
            <a:cxnLst/>
            <a:rect r="r" b="b" t="t" l="l"/>
            <a:pathLst>
              <a:path h="3407864" w="4780868">
                <a:moveTo>
                  <a:pt x="0" y="0"/>
                </a:moveTo>
                <a:lnTo>
                  <a:pt x="4780867" y="0"/>
                </a:lnTo>
                <a:lnTo>
                  <a:pt x="4780867" y="3407865"/>
                </a:lnTo>
                <a:lnTo>
                  <a:pt x="0" y="3407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91928" y="4631477"/>
            <a:ext cx="4767372" cy="4777625"/>
          </a:xfrm>
          <a:custGeom>
            <a:avLst/>
            <a:gdLst/>
            <a:ahLst/>
            <a:cxnLst/>
            <a:rect r="r" b="b" t="t" l="l"/>
            <a:pathLst>
              <a:path h="4777625" w="4767372">
                <a:moveTo>
                  <a:pt x="0" y="0"/>
                </a:moveTo>
                <a:lnTo>
                  <a:pt x="4767372" y="0"/>
                </a:lnTo>
                <a:lnTo>
                  <a:pt x="4767372" y="4777625"/>
                </a:lnTo>
                <a:lnTo>
                  <a:pt x="0" y="477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83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7814" y="657805"/>
            <a:ext cx="10096438" cy="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of the Product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8681" y="1438264"/>
            <a:ext cx="8010832" cy="34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evaluate the performance of the device, we ran tests over </a:t>
            </a: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8 subjects and created a database for 7 of them.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Each person took </a:t>
            </a: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10 trials, 5 for each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of two activities of blink count, i.e. </a:t>
            </a: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blink_count=1 and blink_count=3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simultaneously heart rate was monitored as well and verified from a smart watch placed on the same location(STA) as the PPG sensor of LifeBlink spectacles.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5714" y="7060063"/>
            <a:ext cx="1736438" cy="5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8247" y="5422865"/>
            <a:ext cx="3075214" cy="217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Metrics for Blink : 1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Accuracy: 0.89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Precision: 1.00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Recall: 0.77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F1 Score: 0.87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18989" y="5422865"/>
            <a:ext cx="3155263" cy="217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Metrics for Blink : 3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Accuracy: 0.87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Precision: 1.00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Recall: 0.74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F1 Score: 0.85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32117" y="8093253"/>
            <a:ext cx="5331980" cy="17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Heart Rate Prediction Metric: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 Absolute Error (MAE): 1.2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 Squared Error(MSE): 2.06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  Score: 0.96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61785" y="9087167"/>
            <a:ext cx="181677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37401" y="96317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686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6317" y="4763722"/>
            <a:ext cx="8253257" cy="4850312"/>
            <a:chOff x="0" y="0"/>
            <a:chExt cx="11004343" cy="6467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30983" y="0"/>
              <a:ext cx="3190557" cy="2373390"/>
            </a:xfrm>
            <a:custGeom>
              <a:avLst/>
              <a:gdLst/>
              <a:ahLst/>
              <a:cxnLst/>
              <a:rect r="r" b="b" t="t" l="l"/>
              <a:pathLst>
                <a:path h="2373390" w="3190557">
                  <a:moveTo>
                    <a:pt x="0" y="0"/>
                  </a:moveTo>
                  <a:lnTo>
                    <a:pt x="3190557" y="0"/>
                  </a:lnTo>
                  <a:lnTo>
                    <a:pt x="3190557" y="2373390"/>
                  </a:lnTo>
                  <a:lnTo>
                    <a:pt x="0" y="2373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3566187"/>
              <a:ext cx="2511104" cy="1797981"/>
            </a:xfrm>
            <a:custGeom>
              <a:avLst/>
              <a:gdLst/>
              <a:ahLst/>
              <a:cxnLst/>
              <a:rect r="r" b="b" t="t" l="l"/>
              <a:pathLst>
                <a:path h="1797981" w="2511104">
                  <a:moveTo>
                    <a:pt x="0" y="0"/>
                  </a:moveTo>
                  <a:lnTo>
                    <a:pt x="2511104" y="0"/>
                  </a:lnTo>
                  <a:lnTo>
                    <a:pt x="2511104" y="1797980"/>
                  </a:lnTo>
                  <a:lnTo>
                    <a:pt x="0" y="179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334055" y="3672682"/>
              <a:ext cx="1713004" cy="1740299"/>
            </a:xfrm>
            <a:custGeom>
              <a:avLst/>
              <a:gdLst/>
              <a:ahLst/>
              <a:cxnLst/>
              <a:rect r="r" b="b" t="t" l="l"/>
              <a:pathLst>
                <a:path h="1740299" w="1713004">
                  <a:moveTo>
                    <a:pt x="0" y="0"/>
                  </a:moveTo>
                  <a:lnTo>
                    <a:pt x="1713004" y="0"/>
                  </a:lnTo>
                  <a:lnTo>
                    <a:pt x="1713004" y="1740299"/>
                  </a:lnTo>
                  <a:lnTo>
                    <a:pt x="0" y="1740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924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09460" y="2351362"/>
              <a:ext cx="910895" cy="1491048"/>
            </a:xfrm>
            <a:custGeom>
              <a:avLst/>
              <a:gdLst/>
              <a:ahLst/>
              <a:cxnLst/>
              <a:rect r="r" b="b" t="t" l="l"/>
              <a:pathLst>
                <a:path h="1491048" w="910895">
                  <a:moveTo>
                    <a:pt x="0" y="0"/>
                  </a:moveTo>
                  <a:lnTo>
                    <a:pt x="910894" y="0"/>
                  </a:lnTo>
                  <a:lnTo>
                    <a:pt x="910894" y="1491047"/>
                  </a:lnTo>
                  <a:lnTo>
                    <a:pt x="0" y="149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4794983" y="1911658"/>
              <a:ext cx="4235365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Remote Monitoring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00131" y="2818986"/>
              <a:ext cx="5962764" cy="1646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549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Audio Output</a:t>
              </a:r>
            </a:p>
            <a:p>
              <a:pPr algn="l" marL="474978" indent="-237489" lvl="1">
                <a:lnSpc>
                  <a:spcPts val="549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Alert on caretaketr’s device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9557" y="5813031"/>
              <a:ext cx="10894786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Improved Efficiency in patient monitoring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0" y="6062714"/>
            <a:ext cx="8849720" cy="3485950"/>
            <a:chOff x="0" y="0"/>
            <a:chExt cx="11799627" cy="4647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570716" y="689811"/>
              <a:ext cx="4228911" cy="2991181"/>
            </a:xfrm>
            <a:custGeom>
              <a:avLst/>
              <a:gdLst/>
              <a:ahLst/>
              <a:cxnLst/>
              <a:rect r="r" b="b" t="t" l="l"/>
              <a:pathLst>
                <a:path h="2991181" w="4228911">
                  <a:moveTo>
                    <a:pt x="0" y="0"/>
                  </a:moveTo>
                  <a:lnTo>
                    <a:pt x="4228911" y="0"/>
                  </a:lnTo>
                  <a:lnTo>
                    <a:pt x="4228911" y="2991181"/>
                  </a:lnTo>
                  <a:lnTo>
                    <a:pt x="0" y="2991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9241" y="2253659"/>
              <a:ext cx="1647063" cy="1647063"/>
            </a:xfrm>
            <a:custGeom>
              <a:avLst/>
              <a:gdLst/>
              <a:ahLst/>
              <a:cxnLst/>
              <a:rect r="r" b="b" t="t" l="l"/>
              <a:pathLst>
                <a:path h="1647063" w="1647063">
                  <a:moveTo>
                    <a:pt x="0" y="0"/>
                  </a:moveTo>
                  <a:lnTo>
                    <a:pt x="1647063" y="0"/>
                  </a:lnTo>
                  <a:lnTo>
                    <a:pt x="1647063" y="1647063"/>
                  </a:lnTo>
                  <a:lnTo>
                    <a:pt x="0" y="164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98218" cy="2358496"/>
            </a:xfrm>
            <a:custGeom>
              <a:avLst/>
              <a:gdLst/>
              <a:ahLst/>
              <a:cxnLst/>
              <a:rect r="r" b="b" t="t" l="l"/>
              <a:pathLst>
                <a:path h="2358496" w="3598218">
                  <a:moveTo>
                    <a:pt x="0" y="0"/>
                  </a:moveTo>
                  <a:lnTo>
                    <a:pt x="3598218" y="0"/>
                  </a:lnTo>
                  <a:lnTo>
                    <a:pt x="3598218" y="2358496"/>
                  </a:lnTo>
                  <a:lnTo>
                    <a:pt x="0" y="23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3783256" y="1122187"/>
              <a:ext cx="3181534" cy="1131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Inexpensive sensors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105906" y="2912345"/>
              <a:ext cx="4858884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Minimal maintainence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12730" y="3993882"/>
              <a:ext cx="338832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Affordability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657805"/>
            <a:ext cx="10776009" cy="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Potential Benefits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77814" y="2010325"/>
            <a:ext cx="6084710" cy="3133175"/>
            <a:chOff x="0" y="0"/>
            <a:chExt cx="8112947" cy="41775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27180"/>
              <a:ext cx="3046524" cy="2362423"/>
            </a:xfrm>
            <a:custGeom>
              <a:avLst/>
              <a:gdLst/>
              <a:ahLst/>
              <a:cxnLst/>
              <a:rect r="r" b="b" t="t" l="l"/>
              <a:pathLst>
                <a:path h="2362423" w="3046524">
                  <a:moveTo>
                    <a:pt x="0" y="0"/>
                  </a:moveTo>
                  <a:lnTo>
                    <a:pt x="3046524" y="0"/>
                  </a:lnTo>
                  <a:lnTo>
                    <a:pt x="3046524" y="2362423"/>
                  </a:lnTo>
                  <a:lnTo>
                    <a:pt x="0" y="2362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3366" t="-15168" r="-24593" b="-62741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048289" y="0"/>
              <a:ext cx="4064658" cy="2489603"/>
            </a:xfrm>
            <a:custGeom>
              <a:avLst/>
              <a:gdLst/>
              <a:ahLst/>
              <a:cxnLst/>
              <a:rect r="r" b="b" t="t" l="l"/>
              <a:pathLst>
                <a:path h="2489603" w="4064658">
                  <a:moveTo>
                    <a:pt x="0" y="0"/>
                  </a:moveTo>
                  <a:lnTo>
                    <a:pt x="4064658" y="0"/>
                  </a:lnTo>
                  <a:lnTo>
                    <a:pt x="4064658" y="2489603"/>
                  </a:lnTo>
                  <a:lnTo>
                    <a:pt x="0" y="2489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00798" y="2664606"/>
              <a:ext cx="2918590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Easy to Wear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686283" y="2664606"/>
              <a:ext cx="1898905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Portable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681895" y="3523515"/>
              <a:ext cx="4209568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User Experience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24379" y="1756279"/>
            <a:ext cx="10291594" cy="3387221"/>
            <a:chOff x="0" y="0"/>
            <a:chExt cx="13722125" cy="45162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196877" y="0"/>
              <a:ext cx="4525248" cy="3050959"/>
            </a:xfrm>
            <a:custGeom>
              <a:avLst/>
              <a:gdLst/>
              <a:ahLst/>
              <a:cxnLst/>
              <a:rect r="r" b="b" t="t" l="l"/>
              <a:pathLst>
                <a:path h="3050959" w="4525248">
                  <a:moveTo>
                    <a:pt x="0" y="0"/>
                  </a:moveTo>
                  <a:lnTo>
                    <a:pt x="4525248" y="0"/>
                  </a:lnTo>
                  <a:lnTo>
                    <a:pt x="4525248" y="3050959"/>
                  </a:lnTo>
                  <a:lnTo>
                    <a:pt x="0" y="3050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512657" y="-47625"/>
              <a:ext cx="6778058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Two- layered </a:t>
              </a:r>
              <a:r>
                <a:rPr lang="en-US" b="true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emergency alert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621114"/>
              <a:ext cx="8816647" cy="2685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Voluntary - Blinking</a:t>
              </a:r>
            </a:p>
            <a:p>
              <a:pPr algn="l" marL="474978" indent="-237489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Involuntary - Heart rate monitoring</a:t>
              </a:r>
            </a:p>
            <a:p>
              <a:pPr algn="l" marL="474978" indent="-237489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alerts emergency even if blinking not feasible for the patient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214842" y="3862243"/>
              <a:ext cx="5373688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Robust Functionality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69186" y="0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2290" y="1645662"/>
            <a:ext cx="8984383" cy="6379339"/>
            <a:chOff x="0" y="0"/>
            <a:chExt cx="11979177" cy="850578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88307" y="0"/>
              <a:ext cx="10302516" cy="3514379"/>
              <a:chOff x="0" y="0"/>
              <a:chExt cx="2855097" cy="9739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55097" cy="973926"/>
              </a:xfrm>
              <a:custGeom>
                <a:avLst/>
                <a:gdLst/>
                <a:ahLst/>
                <a:cxnLst/>
                <a:rect r="r" b="b" t="t" l="l"/>
                <a:pathLst>
                  <a:path h="973926" w="2855097">
                    <a:moveTo>
                      <a:pt x="0" y="0"/>
                    </a:moveTo>
                    <a:lnTo>
                      <a:pt x="2855097" y="0"/>
                    </a:lnTo>
                    <a:lnTo>
                      <a:pt x="2855097" y="973926"/>
                    </a:lnTo>
                    <a:lnTo>
                      <a:pt x="0" y="973926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855097" cy="1021551"/>
              </a:xfrm>
              <a:prstGeom prst="rect">
                <a:avLst/>
              </a:prstGeom>
            </p:spPr>
            <p:txBody>
              <a:bodyPr anchor="ctr" rtlCol="false" tIns="42255" lIns="42255" bIns="42255" rIns="42255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710235" y="45574"/>
              <a:ext cx="6485601" cy="605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Expanding the vocabulary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45661" y="739437"/>
              <a:ext cx="5614748" cy="441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4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Detection of more eye gestures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54235" y="1287680"/>
              <a:ext cx="9917881" cy="204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4722" indent="-192361" lvl="1">
                <a:lnSpc>
                  <a:spcPts val="2494"/>
                </a:lnSpc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Successful attempt at detecting the horizontal and vertical extremes i.e. Left, Right, Up and Down eye movements along with blink detection.</a:t>
              </a:r>
            </a:p>
            <a:p>
              <a:pPr algn="l" marL="384722" indent="-192361" lvl="1">
                <a:lnSpc>
                  <a:spcPts val="24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Allows to create multiple command combinations, hence enhanced communication 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3514379"/>
              <a:ext cx="6139565" cy="4151682"/>
            </a:xfrm>
            <a:custGeom>
              <a:avLst/>
              <a:gdLst/>
              <a:ahLst/>
              <a:cxnLst/>
              <a:rect r="r" b="b" t="t" l="l"/>
              <a:pathLst>
                <a:path h="4151682" w="6139565">
                  <a:moveTo>
                    <a:pt x="0" y="0"/>
                  </a:moveTo>
                  <a:lnTo>
                    <a:pt x="6139565" y="0"/>
                  </a:lnTo>
                  <a:lnTo>
                    <a:pt x="6139565" y="4151683"/>
                  </a:lnTo>
                  <a:lnTo>
                    <a:pt x="0" y="4151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53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677431" y="3610017"/>
              <a:ext cx="6237150" cy="3906015"/>
            </a:xfrm>
            <a:custGeom>
              <a:avLst/>
              <a:gdLst/>
              <a:ahLst/>
              <a:cxnLst/>
              <a:rect r="r" b="b" t="t" l="l"/>
              <a:pathLst>
                <a:path h="3906015" w="6237150">
                  <a:moveTo>
                    <a:pt x="0" y="0"/>
                  </a:moveTo>
                  <a:lnTo>
                    <a:pt x="6237150" y="0"/>
                  </a:lnTo>
                  <a:lnTo>
                    <a:pt x="6237150" y="3906015"/>
                  </a:lnTo>
                  <a:lnTo>
                    <a:pt x="0" y="3906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821060" y="7643032"/>
              <a:ext cx="6158117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After training the model, we obtain </a:t>
              </a:r>
              <a:r>
                <a:rPr lang="en-US" b="true" sz="18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76%</a:t>
              </a:r>
              <a:r>
                <a:rPr lang="en-US" sz="18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accuracy on Validation set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21916" y="7859737"/>
              <a:ext cx="5095734" cy="646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6"/>
                </a:lnSpc>
              </a:pPr>
              <a:r>
                <a:rPr lang="en-US" sz="18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Confusion Matrix for the 5 classes </a:t>
              </a:r>
            </a:p>
            <a:p>
              <a:pPr algn="ctr">
                <a:lnSpc>
                  <a:spcPts val="1926"/>
                </a:lnSpc>
              </a:pPr>
              <a:r>
                <a:rPr lang="en-US" sz="18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Left Right, Up, Down, Blink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7672" y="7339104"/>
            <a:ext cx="17866115" cy="2831462"/>
            <a:chOff x="0" y="0"/>
            <a:chExt cx="23821487" cy="377528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1079629"/>
              <a:ext cx="12878109" cy="2695654"/>
              <a:chOff x="0" y="0"/>
              <a:chExt cx="3568861" cy="74703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568861" cy="747036"/>
              </a:xfrm>
              <a:custGeom>
                <a:avLst/>
                <a:gdLst/>
                <a:ahLst/>
                <a:cxnLst/>
                <a:rect r="r" b="b" t="t" l="l"/>
                <a:pathLst>
                  <a:path h="747036" w="3568861">
                    <a:moveTo>
                      <a:pt x="0" y="0"/>
                    </a:moveTo>
                    <a:lnTo>
                      <a:pt x="3568861" y="0"/>
                    </a:lnTo>
                    <a:lnTo>
                      <a:pt x="3568861" y="747036"/>
                    </a:lnTo>
                    <a:lnTo>
                      <a:pt x="0" y="747036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3568861" cy="794661"/>
              </a:xfrm>
              <a:prstGeom prst="rect">
                <a:avLst/>
              </a:prstGeom>
            </p:spPr>
            <p:txBody>
              <a:bodyPr anchor="ctr" rtlCol="false" tIns="36209" lIns="36209" bIns="36209" rIns="36209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152404" y="1125202"/>
              <a:ext cx="8106979" cy="605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Custom PCB Integration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424544" y="1818740"/>
              <a:ext cx="7562697" cy="441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4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Integrating PCB within the frame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234" y="2367902"/>
              <a:ext cx="12397317" cy="1208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4722" indent="-192361" lvl="1">
                <a:lnSpc>
                  <a:spcPts val="2494"/>
                </a:lnSpc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Customizing PCB for sensors and power supply from rechargeable battery</a:t>
              </a:r>
            </a:p>
            <a:p>
              <a:pPr algn="l" marL="384722" indent="-192361" lvl="1">
                <a:lnSpc>
                  <a:spcPts val="24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Sleek, wire free spectacles design by Integrating the PCB within eyewear frame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13097824" y="850295"/>
              <a:ext cx="4957751" cy="2924987"/>
            </a:xfrm>
            <a:custGeom>
              <a:avLst/>
              <a:gdLst/>
              <a:ahLst/>
              <a:cxnLst/>
              <a:rect r="r" b="b" t="t" l="l"/>
              <a:pathLst>
                <a:path h="2924987" w="4957751">
                  <a:moveTo>
                    <a:pt x="0" y="0"/>
                  </a:moveTo>
                  <a:lnTo>
                    <a:pt x="4957752" y="0"/>
                  </a:lnTo>
                  <a:lnTo>
                    <a:pt x="4957752" y="2924987"/>
                  </a:lnTo>
                  <a:lnTo>
                    <a:pt x="0" y="2924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369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8275290" y="0"/>
              <a:ext cx="4848415" cy="3023041"/>
            </a:xfrm>
            <a:custGeom>
              <a:avLst/>
              <a:gdLst/>
              <a:ahLst/>
              <a:cxnLst/>
              <a:rect r="r" b="b" t="t" l="l"/>
              <a:pathLst>
                <a:path h="3023041" w="4848415">
                  <a:moveTo>
                    <a:pt x="0" y="0"/>
                  </a:moveTo>
                  <a:lnTo>
                    <a:pt x="4848416" y="0"/>
                  </a:lnTo>
                  <a:lnTo>
                    <a:pt x="4848416" y="3023041"/>
                  </a:lnTo>
                  <a:lnTo>
                    <a:pt x="0" y="3023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040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7934329" y="2994466"/>
              <a:ext cx="5887158" cy="710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Image source :  </a:t>
              </a:r>
            </a:p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www.christianholz.net/glabella.html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-1430423" y="571795"/>
            <a:ext cx="10096438" cy="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Scalability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90374" y="1567382"/>
            <a:ext cx="7726887" cy="6204635"/>
            <a:chOff x="0" y="0"/>
            <a:chExt cx="10302516" cy="827284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302516" cy="3514379"/>
              <a:chOff x="0" y="0"/>
              <a:chExt cx="2855097" cy="97392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855097" cy="973926"/>
              </a:xfrm>
              <a:custGeom>
                <a:avLst/>
                <a:gdLst/>
                <a:ahLst/>
                <a:cxnLst/>
                <a:rect r="r" b="b" t="t" l="l"/>
                <a:pathLst>
                  <a:path h="973926" w="2855097">
                    <a:moveTo>
                      <a:pt x="0" y="0"/>
                    </a:moveTo>
                    <a:lnTo>
                      <a:pt x="2855097" y="0"/>
                    </a:lnTo>
                    <a:lnTo>
                      <a:pt x="2855097" y="973926"/>
                    </a:lnTo>
                    <a:lnTo>
                      <a:pt x="0" y="973926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2855097" cy="1021551"/>
              </a:xfrm>
              <a:prstGeom prst="rect">
                <a:avLst/>
              </a:prstGeom>
            </p:spPr>
            <p:txBody>
              <a:bodyPr anchor="ctr" rtlCol="false" tIns="36209" lIns="36209" bIns="36209" rIns="36209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5023054" y="3928286"/>
              <a:ext cx="5279462" cy="3353436"/>
            </a:xfrm>
            <a:custGeom>
              <a:avLst/>
              <a:gdLst/>
              <a:ahLst/>
              <a:cxnLst/>
              <a:rect r="r" b="b" t="t" l="l"/>
              <a:pathLst>
                <a:path h="3353436" w="5279462">
                  <a:moveTo>
                    <a:pt x="0" y="0"/>
                  </a:moveTo>
                  <a:lnTo>
                    <a:pt x="5279462" y="0"/>
                  </a:lnTo>
                  <a:lnTo>
                    <a:pt x="5279462" y="3353436"/>
                  </a:lnTo>
                  <a:lnTo>
                    <a:pt x="0" y="3353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89551" y="4041282"/>
              <a:ext cx="3978135" cy="4231564"/>
            </a:xfrm>
            <a:custGeom>
              <a:avLst/>
              <a:gdLst/>
              <a:ahLst/>
              <a:cxnLst/>
              <a:rect r="r" b="b" t="t" l="l"/>
              <a:pathLst>
                <a:path h="4231564" w="3978135">
                  <a:moveTo>
                    <a:pt x="0" y="0"/>
                  </a:moveTo>
                  <a:lnTo>
                    <a:pt x="3978135" y="0"/>
                  </a:lnTo>
                  <a:lnTo>
                    <a:pt x="3978135" y="4231564"/>
                  </a:lnTo>
                  <a:lnTo>
                    <a:pt x="0" y="423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66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89551" y="45574"/>
              <a:ext cx="9469017" cy="605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App for Holistic Monitoring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157354" y="739437"/>
              <a:ext cx="5614748" cy="441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4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Developing Mobile Application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65928" y="1287680"/>
              <a:ext cx="9917881" cy="204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4722" indent="-192361" lvl="1">
                <a:lnSpc>
                  <a:spcPts val="2494"/>
                </a:lnSpc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Caretakers receive commands generated from blink detection in form of push notification and audio messages</a:t>
              </a:r>
            </a:p>
            <a:p>
              <a:pPr algn="l" marL="384722" indent="-192361" lvl="1">
                <a:lnSpc>
                  <a:spcPts val="2494"/>
                </a:lnSpc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Real time heart rate data monitoring feature in the app </a:t>
              </a:r>
            </a:p>
            <a:p>
              <a:pPr algn="l" marL="384722" indent="-192361" lvl="1">
                <a:lnSpc>
                  <a:spcPts val="24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Allowing multiple users (caretakers) for a single patient’s data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7517261" y="958533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09232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6833" y="-8390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138779" y="3606437"/>
            <a:ext cx="116522" cy="11652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2585" y="6863947"/>
            <a:ext cx="15335373" cy="3255182"/>
            <a:chOff x="0" y="0"/>
            <a:chExt cx="20447164" cy="4340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469233" y="891935"/>
              <a:ext cx="6092337" cy="2952125"/>
            </a:xfrm>
            <a:custGeom>
              <a:avLst/>
              <a:gdLst/>
              <a:ahLst/>
              <a:cxnLst/>
              <a:rect r="r" b="b" t="t" l="l"/>
              <a:pathLst>
                <a:path h="2952125" w="6092337">
                  <a:moveTo>
                    <a:pt x="0" y="0"/>
                  </a:moveTo>
                  <a:lnTo>
                    <a:pt x="6092337" y="0"/>
                  </a:lnTo>
                  <a:lnTo>
                    <a:pt x="6092337" y="2952126"/>
                  </a:lnTo>
                  <a:lnTo>
                    <a:pt x="0" y="295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7242381" cy="4080769"/>
              <a:chOff x="0" y="0"/>
              <a:chExt cx="2007053" cy="11308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07053" cy="1130888"/>
              </a:xfrm>
              <a:custGeom>
                <a:avLst/>
                <a:gdLst/>
                <a:ahLst/>
                <a:cxnLst/>
                <a:rect r="r" b="b" t="t" l="l"/>
                <a:pathLst>
                  <a:path h="1130888" w="2007053">
                    <a:moveTo>
                      <a:pt x="0" y="0"/>
                    </a:moveTo>
                    <a:lnTo>
                      <a:pt x="2007053" y="0"/>
                    </a:lnTo>
                    <a:lnTo>
                      <a:pt x="2007053" y="1130888"/>
                    </a:lnTo>
                    <a:lnTo>
                      <a:pt x="0" y="1130888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007053" cy="1178513"/>
              </a:xfrm>
              <a:prstGeom prst="rect">
                <a:avLst/>
              </a:prstGeom>
            </p:spPr>
            <p:txBody>
              <a:bodyPr anchor="ctr" rtlCol="false" tIns="36209" lIns="36209" bIns="36209" rIns="36209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12097" y="45306"/>
              <a:ext cx="5720371" cy="605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Anomaly Detection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591" y="739437"/>
              <a:ext cx="6624633" cy="911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4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Utilizing Heart Rate data to detect threats to health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9172" y="1758381"/>
              <a:ext cx="7123209" cy="204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4722" indent="-192361" lvl="1">
                <a:lnSpc>
                  <a:spcPts val="24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Leveraging data from the PPG sensors, anomaly detection algorithms are developed to identify and alert the patient about any upcoming health threats or abnormal heart rate behaviour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5691910" y="637088"/>
              <a:ext cx="4755255" cy="3703155"/>
            </a:xfrm>
            <a:custGeom>
              <a:avLst/>
              <a:gdLst/>
              <a:ahLst/>
              <a:cxnLst/>
              <a:rect r="r" b="b" t="t" l="l"/>
              <a:pathLst>
                <a:path h="3703155" w="4755255">
                  <a:moveTo>
                    <a:pt x="0" y="0"/>
                  </a:moveTo>
                  <a:lnTo>
                    <a:pt x="4755254" y="0"/>
                  </a:lnTo>
                  <a:lnTo>
                    <a:pt x="4755254" y="3703155"/>
                  </a:lnTo>
                  <a:lnTo>
                    <a:pt x="0" y="3703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666122" y="126760"/>
              <a:ext cx="5698558" cy="408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Normal vs Anomaly in Heart Rate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546883" y="1347768"/>
              <a:ext cx="1270709" cy="408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Normal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575858" y="2903330"/>
              <a:ext cx="1513228" cy="408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Anomaly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6343274" y="117235"/>
              <a:ext cx="3793842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94% accuracy obtained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70394" y="4384891"/>
            <a:ext cx="10027564" cy="2312660"/>
            <a:chOff x="0" y="0"/>
            <a:chExt cx="13370086" cy="308354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4386441" y="0"/>
              <a:ext cx="8983644" cy="3059919"/>
              <a:chOff x="0" y="0"/>
              <a:chExt cx="2855097" cy="97247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855097" cy="972474"/>
              </a:xfrm>
              <a:custGeom>
                <a:avLst/>
                <a:gdLst/>
                <a:ahLst/>
                <a:cxnLst/>
                <a:rect r="r" b="b" t="t" l="l"/>
                <a:pathLst>
                  <a:path h="972474" w="2855097">
                    <a:moveTo>
                      <a:pt x="0" y="0"/>
                    </a:moveTo>
                    <a:lnTo>
                      <a:pt x="2855097" y="0"/>
                    </a:lnTo>
                    <a:lnTo>
                      <a:pt x="2855097" y="972474"/>
                    </a:lnTo>
                    <a:lnTo>
                      <a:pt x="0" y="972474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2855097" cy="1020099"/>
              </a:xfrm>
              <a:prstGeom prst="rect">
                <a:avLst/>
              </a:prstGeom>
            </p:spPr>
            <p:txBody>
              <a:bodyPr anchor="ctr" rtlCol="false" tIns="36209" lIns="36209" bIns="36209" rIns="36209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669707" y="33410"/>
              <a:ext cx="6091810" cy="53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3"/>
                </a:lnSpc>
                <a:spcBef>
                  <a:spcPct val="0"/>
                </a:spcBef>
              </a:pPr>
              <a:r>
                <a:rPr lang="en-US" sz="2423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Additional Core in MCU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887196" y="649025"/>
              <a:ext cx="5982135" cy="380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  <a:spcBef>
                  <a:spcPct val="0"/>
                </a:spcBef>
              </a:pPr>
              <a:r>
                <a:rPr lang="en-US" sz="174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For simultaneous data collection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386441" y="1070549"/>
              <a:ext cx="8983644" cy="1742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Currently: ESP 32 uses dual core to receive data from sensors and process them one at a time</a:t>
              </a:r>
            </a:p>
            <a:p>
              <a:pPr algn="l" marL="410209" indent="-205105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Extra core would allow data processing from multiple sensors simultaneously and accurately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0" y="381515"/>
              <a:ext cx="3894820" cy="2702032"/>
            </a:xfrm>
            <a:custGeom>
              <a:avLst/>
              <a:gdLst/>
              <a:ahLst/>
              <a:cxnLst/>
              <a:rect r="r" b="b" t="t" l="l"/>
              <a:pathLst>
                <a:path h="2702032" w="3894820">
                  <a:moveTo>
                    <a:pt x="0" y="0"/>
                  </a:moveTo>
                  <a:lnTo>
                    <a:pt x="3894820" y="0"/>
                  </a:lnTo>
                  <a:lnTo>
                    <a:pt x="3894820" y="2702032"/>
                  </a:lnTo>
                  <a:lnTo>
                    <a:pt x="0" y="270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4438" y="470703"/>
            <a:ext cx="15773520" cy="5681070"/>
            <a:chOff x="0" y="0"/>
            <a:chExt cx="21031360" cy="7574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4688761"/>
              <a:ext cx="4106447" cy="2673622"/>
            </a:xfrm>
            <a:custGeom>
              <a:avLst/>
              <a:gdLst/>
              <a:ahLst/>
              <a:cxnLst/>
              <a:rect r="r" b="b" t="t" l="l"/>
              <a:pathLst>
                <a:path h="2673622" w="4106447">
                  <a:moveTo>
                    <a:pt x="0" y="0"/>
                  </a:moveTo>
                  <a:lnTo>
                    <a:pt x="4106447" y="0"/>
                  </a:lnTo>
                  <a:lnTo>
                    <a:pt x="4106447" y="2673622"/>
                  </a:lnTo>
                  <a:lnTo>
                    <a:pt x="0" y="2673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535309" y="1769811"/>
              <a:ext cx="10302516" cy="2745030"/>
              <a:chOff x="0" y="0"/>
              <a:chExt cx="2855097" cy="76072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855097" cy="760720"/>
              </a:xfrm>
              <a:custGeom>
                <a:avLst/>
                <a:gdLst/>
                <a:ahLst/>
                <a:cxnLst/>
                <a:rect r="r" b="b" t="t" l="l"/>
                <a:pathLst>
                  <a:path h="760720" w="2855097">
                    <a:moveTo>
                      <a:pt x="0" y="0"/>
                    </a:moveTo>
                    <a:lnTo>
                      <a:pt x="2855097" y="0"/>
                    </a:lnTo>
                    <a:lnTo>
                      <a:pt x="2855097" y="760720"/>
                    </a:lnTo>
                    <a:lnTo>
                      <a:pt x="0" y="760720"/>
                    </a:lnTo>
                    <a:close/>
                  </a:path>
                </a:pathLst>
              </a:custGeom>
              <a:solidFill>
                <a:srgbClr val="47C5F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2855097" cy="808345"/>
              </a:xfrm>
              <a:prstGeom prst="rect">
                <a:avLst/>
              </a:prstGeom>
            </p:spPr>
            <p:txBody>
              <a:bodyPr anchor="ctr" rtlCol="false" tIns="36209" lIns="36209" bIns="36209" rIns="36209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006969" y="1815117"/>
              <a:ext cx="6986137" cy="605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Blood Pressure Monitoring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256387" y="2508788"/>
              <a:ext cx="6860361" cy="441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4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Using Pulse Transit Time Calculation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727627" y="3057950"/>
              <a:ext cx="9917881" cy="1208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4722" indent="-192361" lvl="1">
                <a:lnSpc>
                  <a:spcPts val="249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8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Pulse Transit Time (PTT) algorithm can be used over heart rate data received from non contact PPG sensors to calculate Blood Pressure</a:t>
              </a:r>
            </a:p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11951403" y="0"/>
              <a:ext cx="2895740" cy="3737966"/>
            </a:xfrm>
            <a:custGeom>
              <a:avLst/>
              <a:gdLst/>
              <a:ahLst/>
              <a:cxnLst/>
              <a:rect r="r" b="b" t="t" l="l"/>
              <a:pathLst>
                <a:path h="3737966" w="2895740">
                  <a:moveTo>
                    <a:pt x="0" y="0"/>
                  </a:moveTo>
                  <a:lnTo>
                    <a:pt x="2895740" y="0"/>
                  </a:lnTo>
                  <a:lnTo>
                    <a:pt x="2895740" y="3737966"/>
                  </a:lnTo>
                  <a:lnTo>
                    <a:pt x="0" y="3737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537" r="0" b="0"/>
              </a:stretch>
            </a:blipFill>
          </p:spPr>
        </p:sp>
        <p:sp>
          <p:nvSpPr>
            <p:cNvPr name="AutoShape 42" id="42"/>
            <p:cNvSpPr/>
            <p:nvPr/>
          </p:nvSpPr>
          <p:spPr>
            <a:xfrm>
              <a:off x="14847259" y="1478376"/>
              <a:ext cx="1428846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2941660" y="1058138"/>
              <a:ext cx="3334445" cy="12198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4394383" y="1757312"/>
              <a:ext cx="1881723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15222108" y="2556842"/>
              <a:ext cx="5809253" cy="1036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 PPG sensors provide Heart Rate data from 3 location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106447" y="4791696"/>
              <a:ext cx="5742085" cy="1569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PTT algorithm</a:t>
              </a: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employed between the data received from these 3 locations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2237148" y="3881955"/>
              <a:ext cx="2324249" cy="299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5"/>
                </a:lnSpc>
                <a:spcBef>
                  <a:spcPct val="0"/>
                </a:spcBef>
              </a:pPr>
              <a:r>
                <a:rPr lang="en-US" sz="1304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PPG sensor locations 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4367606" y="803109"/>
              <a:ext cx="2895740" cy="249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33"/>
                </a:lnSpc>
                <a:spcBef>
                  <a:spcPct val="0"/>
                </a:spcBef>
              </a:pPr>
              <a:r>
                <a:rPr lang="en-US" sz="116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Angular Artery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5021479" y="1226337"/>
              <a:ext cx="2676053" cy="234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37"/>
                </a:lnSpc>
                <a:spcBef>
                  <a:spcPct val="0"/>
                </a:spcBef>
              </a:pPr>
              <a:r>
                <a:rPr lang="en-US" sz="10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Superficial Temporal Artery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4531969" y="1516594"/>
              <a:ext cx="2676053" cy="234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37"/>
                </a:lnSpc>
                <a:spcBef>
                  <a:spcPct val="0"/>
                </a:spcBef>
              </a:pPr>
              <a:r>
                <a:rPr lang="en-US" sz="10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Occipital Artery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7275944"/>
              <a:ext cx="4989002" cy="298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 source:  ResearchGate | Alan Mathewson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6085147">
              <a:off x="12469485" y="1331597"/>
              <a:ext cx="813878" cy="231227"/>
            </a:xfrm>
            <a:custGeom>
              <a:avLst/>
              <a:gdLst/>
              <a:ahLst/>
              <a:cxnLst/>
              <a:rect r="r" b="b" t="t" l="l"/>
              <a:pathLst>
                <a:path h="231227" w="813878">
                  <a:moveTo>
                    <a:pt x="0" y="0"/>
                  </a:moveTo>
                  <a:lnTo>
                    <a:pt x="813877" y="0"/>
                  </a:lnTo>
                  <a:lnTo>
                    <a:pt x="813877" y="231226"/>
                  </a:lnTo>
                  <a:lnTo>
                    <a:pt x="0" y="231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34051" y="1536535"/>
            <a:ext cx="85901" cy="8590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4867" lIns="34867" bIns="34867" rIns="34867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80237" y="1748700"/>
            <a:ext cx="79976" cy="79976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4867" lIns="34867" bIns="34867" rIns="34867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826593" y="447686"/>
            <a:ext cx="4143800" cy="10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Scalability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511059" y="1142520"/>
            <a:ext cx="15147251" cy="15147251"/>
          </a:xfrm>
          <a:custGeom>
            <a:avLst/>
            <a:gdLst/>
            <a:ahLst/>
            <a:cxnLst/>
            <a:rect r="r" b="b" t="t" l="l"/>
            <a:pathLst>
              <a:path h="15147251" w="15147251">
                <a:moveTo>
                  <a:pt x="0" y="15147251"/>
                </a:moveTo>
                <a:lnTo>
                  <a:pt x="15147251" y="15147251"/>
                </a:lnTo>
                <a:lnTo>
                  <a:pt x="15147251" y="0"/>
                </a:lnTo>
                <a:lnTo>
                  <a:pt x="0" y="0"/>
                </a:lnTo>
                <a:lnTo>
                  <a:pt x="0" y="151472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8966" b="-689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89952" y="1866628"/>
            <a:ext cx="14926817" cy="8482685"/>
            <a:chOff x="0" y="0"/>
            <a:chExt cx="3931343" cy="2234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1343" cy="2234123"/>
            </a:xfrm>
            <a:custGeom>
              <a:avLst/>
              <a:gdLst/>
              <a:ahLst/>
              <a:cxnLst/>
              <a:rect r="r" b="b" t="t" l="l"/>
              <a:pathLst>
                <a:path h="2234123" w="3931343">
                  <a:moveTo>
                    <a:pt x="0" y="0"/>
                  </a:moveTo>
                  <a:lnTo>
                    <a:pt x="3931343" y="0"/>
                  </a:lnTo>
                  <a:lnTo>
                    <a:pt x="3931343" y="2234123"/>
                  </a:lnTo>
                  <a:lnTo>
                    <a:pt x="0" y="22341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931343" cy="2262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0069" y="2159152"/>
            <a:ext cx="6210605" cy="3019050"/>
            <a:chOff x="0" y="0"/>
            <a:chExt cx="8280807" cy="40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05856" cy="1755452"/>
            </a:xfrm>
            <a:custGeom>
              <a:avLst/>
              <a:gdLst/>
              <a:ahLst/>
              <a:cxnLst/>
              <a:rect r="r" b="b" t="t" l="l"/>
              <a:pathLst>
                <a:path h="1755452" w="2805856">
                  <a:moveTo>
                    <a:pt x="0" y="0"/>
                  </a:moveTo>
                  <a:lnTo>
                    <a:pt x="2805856" y="0"/>
                  </a:lnTo>
                  <a:lnTo>
                    <a:pt x="2805856" y="1755452"/>
                  </a:lnTo>
                  <a:lnTo>
                    <a:pt x="0" y="1755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47" r="0" b="-23805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057966" y="354719"/>
              <a:ext cx="296944" cy="481599"/>
              <a:chOff x="0" y="0"/>
              <a:chExt cx="92385" cy="14983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2385" cy="149835"/>
              </a:xfrm>
              <a:custGeom>
                <a:avLst/>
                <a:gdLst/>
                <a:ahLst/>
                <a:cxnLst/>
                <a:rect r="r" b="b" t="t" l="l"/>
                <a:pathLst>
                  <a:path h="149835" w="92385">
                    <a:moveTo>
                      <a:pt x="0" y="0"/>
                    </a:moveTo>
                    <a:lnTo>
                      <a:pt x="92385" y="0"/>
                    </a:lnTo>
                    <a:lnTo>
                      <a:pt x="92385" y="149835"/>
                    </a:lnTo>
                    <a:lnTo>
                      <a:pt x="0" y="149835"/>
                    </a:ln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92385" cy="1784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976823" y="1458032"/>
              <a:ext cx="3868823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Primary Segment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93760" y="2045342"/>
              <a:ext cx="7487047" cy="198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4157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speech impaired individuals</a:t>
              </a:r>
            </a:p>
            <a:p>
              <a:pPr algn="l" marL="453388" indent="-226694" lvl="1">
                <a:lnSpc>
                  <a:spcPts val="4157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paralysis patients with speech failure</a:t>
              </a:r>
            </a:p>
            <a:p>
              <a:pPr algn="l" marL="453388" indent="-226694" lvl="1">
                <a:lnSpc>
                  <a:spcPts val="4157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children with speech issues 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0">
            <a:off x="-610386" y="5416327"/>
            <a:ext cx="15147251" cy="15147251"/>
          </a:xfrm>
          <a:custGeom>
            <a:avLst/>
            <a:gdLst/>
            <a:ahLst/>
            <a:cxnLst/>
            <a:rect r="r" b="b" t="t" l="l"/>
            <a:pathLst>
              <a:path h="15147251" w="15147251">
                <a:moveTo>
                  <a:pt x="0" y="15147251"/>
                </a:moveTo>
                <a:lnTo>
                  <a:pt x="15147250" y="15147251"/>
                </a:lnTo>
                <a:lnTo>
                  <a:pt x="15147250" y="0"/>
                </a:lnTo>
                <a:lnTo>
                  <a:pt x="0" y="0"/>
                </a:lnTo>
                <a:lnTo>
                  <a:pt x="0" y="151472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8966" b="-68966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172560" y="6107970"/>
            <a:ext cx="14709425" cy="4241342"/>
            <a:chOff x="0" y="0"/>
            <a:chExt cx="3874087" cy="11170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74087" cy="1117061"/>
            </a:xfrm>
            <a:custGeom>
              <a:avLst/>
              <a:gdLst/>
              <a:ahLst/>
              <a:cxnLst/>
              <a:rect r="r" b="b" t="t" l="l"/>
              <a:pathLst>
                <a:path h="1117061" w="3874087">
                  <a:moveTo>
                    <a:pt x="0" y="0"/>
                  </a:moveTo>
                  <a:lnTo>
                    <a:pt x="3874087" y="0"/>
                  </a:lnTo>
                  <a:lnTo>
                    <a:pt x="3874087" y="1117061"/>
                  </a:lnTo>
                  <a:lnTo>
                    <a:pt x="0" y="11170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874087" cy="1145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36864" y="21973"/>
            <a:ext cx="5927844" cy="10555108"/>
            <a:chOff x="0" y="0"/>
            <a:chExt cx="1561243" cy="27799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61243" cy="2779946"/>
            </a:xfrm>
            <a:custGeom>
              <a:avLst/>
              <a:gdLst/>
              <a:ahLst/>
              <a:cxnLst/>
              <a:rect r="r" b="b" t="t" l="l"/>
              <a:pathLst>
                <a:path h="2779946" w="1561243">
                  <a:moveTo>
                    <a:pt x="0" y="0"/>
                  </a:moveTo>
                  <a:lnTo>
                    <a:pt x="1561243" y="0"/>
                  </a:lnTo>
                  <a:lnTo>
                    <a:pt x="1561243" y="2779946"/>
                  </a:lnTo>
                  <a:lnTo>
                    <a:pt x="0" y="27799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561243" cy="2808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72212" y="314436"/>
            <a:ext cx="10096438" cy="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Viability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171201" y="1263419"/>
            <a:ext cx="10185738" cy="2310090"/>
            <a:chOff x="0" y="0"/>
            <a:chExt cx="13580985" cy="3080121"/>
          </a:xfrm>
        </p:grpSpPr>
        <p:sp>
          <p:nvSpPr>
            <p:cNvPr name="Freeform 26" id="26"/>
            <p:cNvSpPr/>
            <p:nvPr/>
          </p:nvSpPr>
          <p:spPr>
            <a:xfrm flipH="false" flipV="false" rot="-10800000">
              <a:off x="1943869" y="1650896"/>
              <a:ext cx="3176875" cy="1429224"/>
            </a:xfrm>
            <a:custGeom>
              <a:avLst/>
              <a:gdLst/>
              <a:ahLst/>
              <a:cxnLst/>
              <a:rect r="r" b="b" t="t" l="l"/>
              <a:pathLst>
                <a:path h="1429224" w="3176875">
                  <a:moveTo>
                    <a:pt x="0" y="0"/>
                  </a:moveTo>
                  <a:lnTo>
                    <a:pt x="3176875" y="0"/>
                  </a:lnTo>
                  <a:lnTo>
                    <a:pt x="3176875" y="1429225"/>
                  </a:lnTo>
                  <a:lnTo>
                    <a:pt x="0" y="1429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997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928084" y="-76200"/>
              <a:ext cx="6652901" cy="880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Commercialization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094156"/>
              <a:ext cx="7739346" cy="622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 segments of target customers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1792543" y="-315404"/>
            <a:ext cx="24559008" cy="17754107"/>
            <a:chOff x="0" y="0"/>
            <a:chExt cx="32745344" cy="23672142"/>
          </a:xfrm>
        </p:grpSpPr>
        <p:sp>
          <p:nvSpPr>
            <p:cNvPr name="Freeform 30" id="30"/>
            <p:cNvSpPr/>
            <p:nvPr/>
          </p:nvSpPr>
          <p:spPr>
            <a:xfrm flipH="true" flipV="true" rot="0">
              <a:off x="0" y="11392700"/>
              <a:ext cx="22274344" cy="2744478"/>
            </a:xfrm>
            <a:custGeom>
              <a:avLst/>
              <a:gdLst/>
              <a:ahLst/>
              <a:cxnLst/>
              <a:rect r="r" b="b" t="t" l="l"/>
              <a:pathLst>
                <a:path h="2744478" w="22274344">
                  <a:moveTo>
                    <a:pt x="22274344" y="2744478"/>
                  </a:moveTo>
                  <a:lnTo>
                    <a:pt x="0" y="2744478"/>
                  </a:lnTo>
                  <a:lnTo>
                    <a:pt x="0" y="0"/>
                  </a:lnTo>
                  <a:lnTo>
                    <a:pt x="22274344" y="0"/>
                  </a:lnTo>
                  <a:lnTo>
                    <a:pt x="22274344" y="2744478"/>
                  </a:lnTo>
                  <a:close/>
                </a:path>
              </a:pathLst>
            </a:custGeom>
            <a:blipFill>
              <a:blip r:embed="rId8"/>
              <a:stretch>
                <a:fillRect l="-99262" t="-1337729" r="-14824" b="-299813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390058" y="11733785"/>
              <a:ext cx="4089899" cy="2062309"/>
            </a:xfrm>
            <a:custGeom>
              <a:avLst/>
              <a:gdLst/>
              <a:ahLst/>
              <a:cxnLst/>
              <a:rect r="r" b="b" t="t" l="l"/>
              <a:pathLst>
                <a:path h="2062309" w="4089899">
                  <a:moveTo>
                    <a:pt x="0" y="0"/>
                  </a:moveTo>
                  <a:lnTo>
                    <a:pt x="4089899" y="0"/>
                  </a:lnTo>
                  <a:lnTo>
                    <a:pt x="4089899" y="2062309"/>
                  </a:lnTo>
                  <a:lnTo>
                    <a:pt x="0" y="2062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0803298" y="11855829"/>
              <a:ext cx="2613756" cy="1787087"/>
            </a:xfrm>
            <a:custGeom>
              <a:avLst/>
              <a:gdLst/>
              <a:ahLst/>
              <a:cxnLst/>
              <a:rect r="r" b="b" t="t" l="l"/>
              <a:pathLst>
                <a:path h="1787087" w="2613756">
                  <a:moveTo>
                    <a:pt x="0" y="0"/>
                  </a:moveTo>
                  <a:lnTo>
                    <a:pt x="2613755" y="0"/>
                  </a:lnTo>
                  <a:lnTo>
                    <a:pt x="2613755" y="1787086"/>
                  </a:lnTo>
                  <a:lnTo>
                    <a:pt x="0" y="1787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9229" t="-33840" r="-35550" b="-362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650038" y="11994442"/>
              <a:ext cx="4983991" cy="146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Rechargeable  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</a:t>
              </a: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extended use and multiple work cycles)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3417053" y="11994442"/>
              <a:ext cx="3159545" cy="146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components and sensors can be easily repaired 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21772544" y="449837"/>
              <a:ext cx="7903792" cy="14073478"/>
              <a:chOff x="0" y="0"/>
              <a:chExt cx="1561243" cy="27799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61243" cy="2779946"/>
              </a:xfrm>
              <a:custGeom>
                <a:avLst/>
                <a:gdLst/>
                <a:ahLst/>
                <a:cxnLst/>
                <a:rect r="r" b="b" t="t" l="l"/>
                <a:pathLst>
                  <a:path h="2779946" w="1561243">
                    <a:moveTo>
                      <a:pt x="0" y="0"/>
                    </a:moveTo>
                    <a:lnTo>
                      <a:pt x="1561243" y="0"/>
                    </a:lnTo>
                    <a:lnTo>
                      <a:pt x="1561243" y="2779946"/>
                    </a:lnTo>
                    <a:lnTo>
                      <a:pt x="0" y="277994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1561243" cy="2808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true" rot="-5400000">
              <a:off x="20207556" y="2014825"/>
              <a:ext cx="14102776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2776">
                  <a:moveTo>
                    <a:pt x="0" y="10972800"/>
                  </a:moveTo>
                  <a:lnTo>
                    <a:pt x="14102776" y="10972800"/>
                  </a:lnTo>
                  <a:lnTo>
                    <a:pt x="14102776" y="0"/>
                  </a:lnTo>
                  <a:lnTo>
                    <a:pt x="0" y="0"/>
                  </a:lnTo>
                  <a:lnTo>
                    <a:pt x="0" y="10972800"/>
                  </a:lnTo>
                  <a:close/>
                </a:path>
              </a:pathLst>
            </a:custGeom>
            <a:blipFill>
              <a:blip r:embed="rId8"/>
              <a:stretch>
                <a:fillRect l="0" t="-14262" r="0" b="-14262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3260813" y="0"/>
              <a:ext cx="4283291" cy="2401725"/>
            </a:xfrm>
            <a:custGeom>
              <a:avLst/>
              <a:gdLst/>
              <a:ahLst/>
              <a:cxnLst/>
              <a:rect r="r" b="b" t="t" l="l"/>
              <a:pathLst>
                <a:path h="2401725" w="4283291">
                  <a:moveTo>
                    <a:pt x="0" y="0"/>
                  </a:moveTo>
                  <a:lnTo>
                    <a:pt x="4283290" y="0"/>
                  </a:lnTo>
                  <a:lnTo>
                    <a:pt x="4283290" y="2401725"/>
                  </a:lnTo>
                  <a:lnTo>
                    <a:pt x="0" y="2401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5400000">
              <a:off x="16735461" y="11627066"/>
              <a:ext cx="12051313" cy="12038838"/>
            </a:xfrm>
            <a:custGeom>
              <a:avLst/>
              <a:gdLst/>
              <a:ahLst/>
              <a:cxnLst/>
              <a:rect r="r" b="b" t="t" l="l"/>
              <a:pathLst>
                <a:path h="12038838" w="12051313">
                  <a:moveTo>
                    <a:pt x="0" y="0"/>
                  </a:moveTo>
                  <a:lnTo>
                    <a:pt x="12051313" y="0"/>
                  </a:lnTo>
                  <a:lnTo>
                    <a:pt x="12051313" y="12038838"/>
                  </a:lnTo>
                  <a:lnTo>
                    <a:pt x="0" y="12038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1772544" y="4805065"/>
              <a:ext cx="4836285" cy="1490636"/>
            </a:xfrm>
            <a:custGeom>
              <a:avLst/>
              <a:gdLst/>
              <a:ahLst/>
              <a:cxnLst/>
              <a:rect r="r" b="b" t="t" l="l"/>
              <a:pathLst>
                <a:path h="1490636" w="4836285">
                  <a:moveTo>
                    <a:pt x="0" y="0"/>
                  </a:moveTo>
                  <a:lnTo>
                    <a:pt x="4836285" y="0"/>
                  </a:lnTo>
                  <a:lnTo>
                    <a:pt x="4836285" y="1490636"/>
                  </a:lnTo>
                  <a:lnTo>
                    <a:pt x="0" y="1490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5643" t="-30995" r="-846" b="-87825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2122699" y="7925550"/>
              <a:ext cx="4092733" cy="1647724"/>
            </a:xfrm>
            <a:custGeom>
              <a:avLst/>
              <a:gdLst/>
              <a:ahLst/>
              <a:cxnLst/>
              <a:rect r="r" b="b" t="t" l="l"/>
              <a:pathLst>
                <a:path h="1647724" w="4092733">
                  <a:moveTo>
                    <a:pt x="0" y="0"/>
                  </a:moveTo>
                  <a:lnTo>
                    <a:pt x="4092733" y="0"/>
                  </a:lnTo>
                  <a:lnTo>
                    <a:pt x="4092733" y="1647723"/>
                  </a:lnTo>
                  <a:lnTo>
                    <a:pt x="0" y="164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16576598" y="12673464"/>
              <a:ext cx="10682345" cy="1107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Sustainable Product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1917771" y="2753443"/>
              <a:ext cx="4502589" cy="1957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Advanced sensors can be integrated over time 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(without altering the core design)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1772544" y="6519584"/>
              <a:ext cx="4641907" cy="966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ex- dry electrodes instead of gel  based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1922799" y="9974147"/>
              <a:ext cx="5336145" cy="1379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Adaptable specs' design</a:t>
              </a:r>
            </a:p>
            <a:p>
              <a:pPr algn="l" marL="431799" indent="-215899" lvl="1">
                <a:lnSpc>
                  <a:spcPts val="27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inclusion of next-generation styles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-8005081">
              <a:off x="17996750" y="11466863"/>
              <a:ext cx="834052" cy="777932"/>
            </a:xfrm>
            <a:custGeom>
              <a:avLst/>
              <a:gdLst/>
              <a:ahLst/>
              <a:cxnLst/>
              <a:rect r="r" b="b" t="t" l="l"/>
              <a:pathLst>
                <a:path h="777932" w="834052">
                  <a:moveTo>
                    <a:pt x="0" y="0"/>
                  </a:moveTo>
                  <a:lnTo>
                    <a:pt x="834052" y="0"/>
                  </a:lnTo>
                  <a:lnTo>
                    <a:pt x="834052" y="777932"/>
                  </a:lnTo>
                  <a:lnTo>
                    <a:pt x="0" y="777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870331" b="-93925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986990" y="1966813"/>
            <a:ext cx="6549875" cy="2793174"/>
            <a:chOff x="0" y="0"/>
            <a:chExt cx="8733166" cy="37242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3272625" y="0"/>
              <a:ext cx="5460541" cy="1975555"/>
            </a:xfrm>
            <a:custGeom>
              <a:avLst/>
              <a:gdLst/>
              <a:ahLst/>
              <a:cxnLst/>
              <a:rect r="r" b="b" t="t" l="l"/>
              <a:pathLst>
                <a:path h="1975555" w="5460541">
                  <a:moveTo>
                    <a:pt x="0" y="0"/>
                  </a:moveTo>
                  <a:lnTo>
                    <a:pt x="5460541" y="0"/>
                  </a:lnTo>
                  <a:lnTo>
                    <a:pt x="5460541" y="1975555"/>
                  </a:lnTo>
                  <a:lnTo>
                    <a:pt x="0" y="1975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9104" r="0" b="-8767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377676" y="1714483"/>
              <a:ext cx="4427566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Secondary Segment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2442674"/>
              <a:ext cx="8493267" cy="1281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4157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individuals with high screen time exposure</a:t>
              </a:r>
            </a:p>
            <a:p>
              <a:pPr algn="l" marL="453388" indent="-226694" lvl="1">
                <a:lnSpc>
                  <a:spcPts val="4157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computer vision syndrome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-497864" y="5504761"/>
            <a:ext cx="14854804" cy="2565723"/>
            <a:chOff x="0" y="0"/>
            <a:chExt cx="19806406" cy="3420964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663819" y="-76200"/>
              <a:ext cx="10765796" cy="880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Diversified Revenue Model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1083679"/>
              <a:ext cx="9847597" cy="440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Improved and remote patient monitoring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1443399" y="2873748"/>
              <a:ext cx="8232747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Direct Sales to end-users (caretakers)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917244" y="2883273"/>
              <a:ext cx="8840483" cy="440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User friendly and affordable wearable device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9948138" y="1074154"/>
              <a:ext cx="9714225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Partnership with Hospitals/ Healthcare Ind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663819" y="1964130"/>
              <a:ext cx="9847597" cy="440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Non-invasive heart rate &amp; cuffless BP measuring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1690814" y="1954605"/>
              <a:ext cx="8115591" cy="54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Sales to opthamologists/ opticians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7643115" y="993777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7718" y="-961535"/>
            <a:ext cx="3735531" cy="37355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80548" y="-630809"/>
            <a:ext cx="4820597" cy="10917809"/>
            <a:chOff x="0" y="0"/>
            <a:chExt cx="6427463" cy="145570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84439" y="0"/>
              <a:ext cx="6343024" cy="14557079"/>
              <a:chOff x="0" y="0"/>
              <a:chExt cx="1252943" cy="28754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52943" cy="2875472"/>
              </a:xfrm>
              <a:custGeom>
                <a:avLst/>
                <a:gdLst/>
                <a:ahLst/>
                <a:cxnLst/>
                <a:rect r="r" b="b" t="t" l="l"/>
                <a:pathLst>
                  <a:path h="2875472" w="1252943">
                    <a:moveTo>
                      <a:pt x="0" y="0"/>
                    </a:moveTo>
                    <a:lnTo>
                      <a:pt x="1252943" y="0"/>
                    </a:lnTo>
                    <a:lnTo>
                      <a:pt x="1252943" y="2875472"/>
                    </a:lnTo>
                    <a:lnTo>
                      <a:pt x="0" y="2875472"/>
                    </a:lnTo>
                    <a:close/>
                  </a:path>
                </a:pathLst>
              </a:custGeom>
              <a:solidFill>
                <a:srgbClr val="145DA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252943" cy="29040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58701" y="2061801"/>
              <a:ext cx="4937897" cy="4114800"/>
              <a:chOff x="0" y="0"/>
              <a:chExt cx="975387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7538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75387">
                    <a:moveTo>
                      <a:pt x="487693" y="0"/>
                    </a:moveTo>
                    <a:cubicBezTo>
                      <a:pt x="218348" y="0"/>
                      <a:pt x="0" y="181951"/>
                      <a:pt x="0" y="406400"/>
                    </a:cubicBezTo>
                    <a:cubicBezTo>
                      <a:pt x="0" y="630849"/>
                      <a:pt x="218348" y="812800"/>
                      <a:pt x="487693" y="812800"/>
                    </a:cubicBezTo>
                    <a:cubicBezTo>
                      <a:pt x="757039" y="812800"/>
                      <a:pt x="975387" y="630849"/>
                      <a:pt x="975387" y="406400"/>
                    </a:cubicBezTo>
                    <a:cubicBezTo>
                      <a:pt x="975387" y="181951"/>
                      <a:pt x="757039" y="0"/>
                      <a:pt x="487693" y="0"/>
                    </a:cubicBezTo>
                    <a:close/>
                  </a:path>
                </a:pathLst>
              </a:custGeom>
              <a:solidFill>
                <a:srgbClr val="75B0D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91443" y="28575"/>
                <a:ext cx="792502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How does LifeBlink solves these challenges?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4439" y="6401788"/>
              <a:ext cx="6086422" cy="1099346"/>
              <a:chOff x="0" y="0"/>
              <a:chExt cx="1202256" cy="2171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02256" cy="217155"/>
              </a:xfrm>
              <a:custGeom>
                <a:avLst/>
                <a:gdLst/>
                <a:ahLst/>
                <a:cxnLst/>
                <a:rect r="r" b="b" t="t" l="l"/>
                <a:pathLst>
                  <a:path h="217155" w="1202256">
                    <a:moveTo>
                      <a:pt x="0" y="0"/>
                    </a:moveTo>
                    <a:lnTo>
                      <a:pt x="1202256" y="0"/>
                    </a:lnTo>
                    <a:lnTo>
                      <a:pt x="1202256" y="217155"/>
                    </a:lnTo>
                    <a:lnTo>
                      <a:pt x="0" y="217155"/>
                    </a:lnTo>
                    <a:close/>
                  </a:path>
                </a:pathLst>
              </a:custGeom>
              <a:solidFill>
                <a:srgbClr val="E6F6F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202256" cy="245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EOG Sensors can be modelled as non contact sensors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319600"/>
              <a:ext cx="6086422" cy="1099346"/>
              <a:chOff x="0" y="0"/>
              <a:chExt cx="1202256" cy="21715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02256" cy="217155"/>
              </a:xfrm>
              <a:custGeom>
                <a:avLst/>
                <a:gdLst/>
                <a:ahLst/>
                <a:cxnLst/>
                <a:rect r="r" b="b" t="t" l="l"/>
                <a:pathLst>
                  <a:path h="217155" w="1202256">
                    <a:moveTo>
                      <a:pt x="0" y="0"/>
                    </a:moveTo>
                    <a:lnTo>
                      <a:pt x="1202256" y="0"/>
                    </a:lnTo>
                    <a:lnTo>
                      <a:pt x="1202256" y="217155"/>
                    </a:lnTo>
                    <a:lnTo>
                      <a:pt x="0" y="217155"/>
                    </a:lnTo>
                    <a:close/>
                  </a:path>
                </a:pathLst>
              </a:custGeom>
              <a:solidFill>
                <a:srgbClr val="E6F6FA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1202256" cy="245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EOG Sensors can utilize natural gravity based contact of spectacles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0460345"/>
              <a:ext cx="6086422" cy="1543846"/>
              <a:chOff x="0" y="0"/>
              <a:chExt cx="1202256" cy="30495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02256" cy="304957"/>
              </a:xfrm>
              <a:custGeom>
                <a:avLst/>
                <a:gdLst/>
                <a:ahLst/>
                <a:cxnLst/>
                <a:rect r="r" b="b" t="t" l="l"/>
                <a:pathLst>
                  <a:path h="304957" w="1202256">
                    <a:moveTo>
                      <a:pt x="0" y="0"/>
                    </a:moveTo>
                    <a:lnTo>
                      <a:pt x="1202256" y="0"/>
                    </a:lnTo>
                    <a:lnTo>
                      <a:pt x="1202256" y="304957"/>
                    </a:lnTo>
                    <a:lnTo>
                      <a:pt x="0" y="304957"/>
                    </a:lnTo>
                    <a:close/>
                  </a:path>
                </a:pathLst>
              </a:custGeom>
              <a:solidFill>
                <a:srgbClr val="E6F6F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202256" cy="3335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Unobstrusive view with additional vital monitoring feature and language conversation ability.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519998"/>
              <a:ext cx="6086422" cy="1099346"/>
              <a:chOff x="0" y="0"/>
              <a:chExt cx="1202256" cy="21715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02256" cy="217155"/>
              </a:xfrm>
              <a:custGeom>
                <a:avLst/>
                <a:gdLst/>
                <a:ahLst/>
                <a:cxnLst/>
                <a:rect r="r" b="b" t="t" l="l"/>
                <a:pathLst>
                  <a:path h="217155" w="1202256">
                    <a:moveTo>
                      <a:pt x="0" y="0"/>
                    </a:moveTo>
                    <a:lnTo>
                      <a:pt x="1202256" y="0"/>
                    </a:lnTo>
                    <a:lnTo>
                      <a:pt x="1202256" y="217155"/>
                    </a:lnTo>
                    <a:lnTo>
                      <a:pt x="0" y="217155"/>
                    </a:lnTo>
                    <a:close/>
                  </a:path>
                </a:pathLst>
              </a:custGeom>
              <a:solidFill>
                <a:srgbClr val="E6F6F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1202256" cy="245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High Privacy and Security over Camera based sensors</a:t>
                </a:r>
              </a:p>
            </p:txBody>
          </p:sp>
        </p:grpSp>
      </p:grpSp>
      <p:sp>
        <p:nvSpPr>
          <p:cNvPr name="Freeform 24" id="24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4265682" y="2095093"/>
          <a:ext cx="8409722" cy="7163207"/>
        </p:xfrm>
        <a:graphic>
          <a:graphicData uri="http://schemas.openxmlformats.org/drawingml/2006/table">
            <a:tbl>
              <a:tblPr/>
              <a:tblGrid>
                <a:gridCol w="2853318"/>
                <a:gridCol w="2166442"/>
                <a:gridCol w="3389963"/>
              </a:tblGrid>
              <a:tr h="1099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Current Eye Tracking Methods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Sensors used in Pre-Existing Technologies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Limitations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</a:tr>
              <a:tr h="1842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Video-oculography (VOG)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RGB/ NIR camera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power consumption and potential ethical concerns regarding continuous monitoring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</a:tr>
              <a:tr h="15611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Infrared Oculography (IROG)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QTR sensor(s) 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Harmful IR radiations cause thermal damage to cornea in the long run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</a:tr>
              <a:tr h="2659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Capacitance-based oculography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Capacitive Sensor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Susceptibility to interference from external factors, limiting its usability in various scenarios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8FF"/>
                    </a:solidFill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1477814" y="571839"/>
            <a:ext cx="10096438" cy="82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Innovation and Uniqueness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0" y="3327117"/>
            <a:ext cx="4774211" cy="6972973"/>
            <a:chOff x="0" y="0"/>
            <a:chExt cx="6365615" cy="9297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76174" y="0"/>
              <a:ext cx="4944510" cy="2001304"/>
            </a:xfrm>
            <a:custGeom>
              <a:avLst/>
              <a:gdLst/>
              <a:ahLst/>
              <a:cxnLst/>
              <a:rect r="r" b="b" t="t" l="l"/>
              <a:pathLst>
                <a:path h="2001304" w="4944510">
                  <a:moveTo>
                    <a:pt x="0" y="0"/>
                  </a:moveTo>
                  <a:lnTo>
                    <a:pt x="4944510" y="0"/>
                  </a:lnTo>
                  <a:lnTo>
                    <a:pt x="4944510" y="2001304"/>
                  </a:lnTo>
                  <a:lnTo>
                    <a:pt x="0" y="200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30" t="-80458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74788" y="2421844"/>
              <a:ext cx="1973641" cy="1973641"/>
            </a:xfrm>
            <a:custGeom>
              <a:avLst/>
              <a:gdLst/>
              <a:ahLst/>
              <a:cxnLst/>
              <a:rect r="r" b="b" t="t" l="l"/>
              <a:pathLst>
                <a:path h="1973641" w="1973641">
                  <a:moveTo>
                    <a:pt x="0" y="0"/>
                  </a:moveTo>
                  <a:lnTo>
                    <a:pt x="1973641" y="0"/>
                  </a:lnTo>
                  <a:lnTo>
                    <a:pt x="1973641" y="1973641"/>
                  </a:lnTo>
                  <a:lnTo>
                    <a:pt x="0" y="197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982366" y="4395485"/>
              <a:ext cx="2438318" cy="3233708"/>
            </a:xfrm>
            <a:custGeom>
              <a:avLst/>
              <a:gdLst/>
              <a:ahLst/>
              <a:cxnLst/>
              <a:rect r="r" b="b" t="t" l="l"/>
              <a:pathLst>
                <a:path h="3233708" w="2438318">
                  <a:moveTo>
                    <a:pt x="0" y="0"/>
                  </a:moveTo>
                  <a:lnTo>
                    <a:pt x="2438318" y="0"/>
                  </a:lnTo>
                  <a:lnTo>
                    <a:pt x="2438318" y="3233708"/>
                  </a:lnTo>
                  <a:lnTo>
                    <a:pt x="0" y="323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97283" b="-134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7581568"/>
              <a:ext cx="6365615" cy="1715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 sources:  stemvolt.in </a:t>
              </a:r>
            </a:p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              e-Con Systems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              frontiersin.org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443853" y="962692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4090" cy="290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6833" y="-8390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53066" y="-315404"/>
            <a:ext cx="3212468" cy="1801294"/>
          </a:xfrm>
          <a:custGeom>
            <a:avLst/>
            <a:gdLst/>
            <a:ahLst/>
            <a:cxnLst/>
            <a:rect r="r" b="b" t="t" l="l"/>
            <a:pathLst>
              <a:path h="1801294" w="3212468">
                <a:moveTo>
                  <a:pt x="0" y="0"/>
                </a:moveTo>
                <a:lnTo>
                  <a:pt x="3212468" y="0"/>
                </a:lnTo>
                <a:lnTo>
                  <a:pt x="3212468" y="1801293"/>
                </a:lnTo>
                <a:lnTo>
                  <a:pt x="0" y="180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538699" y="1864093"/>
          <a:ext cx="12227138" cy="6591300"/>
        </p:xfrm>
        <a:graphic>
          <a:graphicData uri="http://schemas.openxmlformats.org/drawingml/2006/table">
            <a:tbl>
              <a:tblPr/>
              <a:tblGrid>
                <a:gridCol w="721478"/>
                <a:gridCol w="11505660"/>
              </a:tblGrid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 u="sng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https://doi.org/10.1145/3053330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 u="sng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https://www.researchgate.net/publication/319551340_Glabella_Continuously_Sensing_Blood_Pressure_Behavior_using_an_Unobtrusive_Wearable_Device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400" u="sng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3" tooltip="https://www.frontiersin.org/journals/computer-science/articles/10.3389/fcomp.2024.1394397/full"/>
                        </a:rPr>
                        <a:t>Energy-efficient, low-latency and non-contact eye detection with Capacitive Sensor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https://ieeexplore.ieee.org/document/7844384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 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http://dx.doi.org/10.1088/0967-3334/34/9/R47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https://dl.acm.org/doi/10.1145/3314410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https://www.ashaekhope.com/pdf/blink-to-speak-english.pdf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https://www.oneclub.org/awards/theoneshow/-award/33980/blink-to-speak/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https://www.instructables.com/Visualizing-Electrical-Impulses-of-Eyes-EOG-Using-/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https://ieeexplore.ieee.org/document/6376393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https://embedded-lab.com/blog/introducing-easy-pulse-a-diy-photoplethysmographic-sensor-for-measuring-heart-rate/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 u="sng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https://www.researchgate.net/publication/343742648_Research_on_Multi-Order_Anti-Aliasing_Filter_in_Bearing_Profile_Detection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13.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 u="sng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https://github.com/Aliama-Bi/An-Eye-Control-Tetris-Game/tree/master/data/Best-Data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970723" y="447686"/>
            <a:ext cx="4301558" cy="10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DAGfY5pGFsk</dc:identifier>
  <dcterms:modified xsi:type="dcterms:W3CDTF">2011-08-01T06:04:30Z</dcterms:modified>
  <cp:revision>1</cp:revision>
  <dc:title>Final Round Health Hack</dc:title>
</cp:coreProperties>
</file>